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11"/>
  </p:notesMasterIdLst>
  <p:sldIdLst>
    <p:sldId id="256" r:id="rId2"/>
    <p:sldId id="264"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35" autoAdjust="0"/>
    <p:restoredTop sz="94660"/>
  </p:normalViewPr>
  <p:slideViewPr>
    <p:cSldViewPr snapToGrid="0">
      <p:cViewPr varScale="1">
        <p:scale>
          <a:sx n="87" d="100"/>
          <a:sy n="87" d="100"/>
        </p:scale>
        <p:origin x="72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F55CE8-C700-43BE-B832-70BAE37DF4B4}" type="datetimeFigureOut">
              <a:rPr lang="en-US" smtClean="0"/>
              <a:t>9/1/2021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7F085F-9FED-4D59-81A8-B5A49D94E65D}" type="slidenum">
              <a:rPr lang="en-US" smtClean="0"/>
              <a:t>‹#›</a:t>
            </a:fld>
            <a:endParaRPr lang="en-US"/>
          </a:p>
        </p:txBody>
      </p:sp>
    </p:spTree>
    <p:extLst>
      <p:ext uri="{BB962C8B-B14F-4D97-AF65-F5344CB8AC3E}">
        <p14:creationId xmlns:p14="http://schemas.microsoft.com/office/powerpoint/2010/main" val="1984465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63AD6C5-CD07-4876-9062-9BA95C11CA2D}" type="datetime1">
              <a:rPr lang="en-US" smtClean="0"/>
              <a:t>9/1/2021</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r>
              <a:rPr lang="en-US"/>
              <a:t>THEKAMALNAIN</a:t>
            </a:r>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45623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FF4AB-E392-4A5E-8B61-8152EB70B4DC}" type="datetime1">
              <a:rPr lang="en-US" smtClean="0"/>
              <a:t>9/1/2021</a:t>
            </a:fld>
            <a:endParaRPr lang="en-US"/>
          </a:p>
        </p:txBody>
      </p:sp>
      <p:sp>
        <p:nvSpPr>
          <p:cNvPr id="5" name="Footer Placeholder 4"/>
          <p:cNvSpPr>
            <a:spLocks noGrp="1"/>
          </p:cNvSpPr>
          <p:nvPr>
            <p:ph type="ftr" sz="quarter" idx="11"/>
          </p:nvPr>
        </p:nvSpPr>
        <p:spPr/>
        <p:txBody>
          <a:bodyPr/>
          <a:lstStyle/>
          <a:p>
            <a:r>
              <a:rPr lang="en-US"/>
              <a:t>THEKAMALNAIN</a:t>
            </a:r>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626216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E7C78551-80C9-4329-A23E-FE6E78FEE0D0}" type="datetime1">
              <a:rPr lang="en-US" smtClean="0"/>
              <a:t>9/1/2021</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r>
              <a:rPr lang="en-US"/>
              <a:t>THEKAMALNAIN</a:t>
            </a:r>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297739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14045-8C42-449D-A0FA-30BFFA6DE896}" type="datetime1">
              <a:rPr lang="en-US" smtClean="0"/>
              <a:t>9/1/2021</a:t>
            </a:fld>
            <a:endParaRPr lang="en-US"/>
          </a:p>
        </p:txBody>
      </p:sp>
      <p:sp>
        <p:nvSpPr>
          <p:cNvPr id="6" name="Footer Placeholder 5"/>
          <p:cNvSpPr>
            <a:spLocks noGrp="1"/>
          </p:cNvSpPr>
          <p:nvPr>
            <p:ph type="ftr" sz="quarter" idx="11"/>
          </p:nvPr>
        </p:nvSpPr>
        <p:spPr/>
        <p:txBody>
          <a:bodyPr/>
          <a:lstStyle/>
          <a:p>
            <a:r>
              <a:rPr lang="en-US"/>
              <a:t>THEKAMALNAIN</a:t>
            </a:r>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20397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E76A379-8010-4639-8131-C35C7A370C89}" type="datetime1">
              <a:rPr lang="en-US" smtClean="0"/>
              <a:t>9/1/2021</a:t>
            </a:fld>
            <a:endParaRPr lang="en-US"/>
          </a:p>
        </p:txBody>
      </p:sp>
      <p:sp>
        <p:nvSpPr>
          <p:cNvPr id="8" name="Footer Placeholder 7"/>
          <p:cNvSpPr>
            <a:spLocks noGrp="1"/>
          </p:cNvSpPr>
          <p:nvPr>
            <p:ph type="ftr" sz="quarter" idx="11"/>
          </p:nvPr>
        </p:nvSpPr>
        <p:spPr/>
        <p:txBody>
          <a:bodyPr/>
          <a:lstStyle/>
          <a:p>
            <a:r>
              <a:rPr lang="en-US"/>
              <a:t>THEKAMALNAIN</a:t>
            </a:r>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48349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EE788A-4818-46DD-AA4F-94F58E5F6E75}" type="datetime1">
              <a:rPr lang="en-US" smtClean="0"/>
              <a:t>9/1/2021</a:t>
            </a:fld>
            <a:endParaRPr lang="en-US"/>
          </a:p>
        </p:txBody>
      </p:sp>
      <p:sp>
        <p:nvSpPr>
          <p:cNvPr id="4" name="Footer Placeholder 3"/>
          <p:cNvSpPr>
            <a:spLocks noGrp="1"/>
          </p:cNvSpPr>
          <p:nvPr>
            <p:ph type="ftr" sz="quarter" idx="11"/>
          </p:nvPr>
        </p:nvSpPr>
        <p:spPr/>
        <p:txBody>
          <a:bodyPr/>
          <a:lstStyle/>
          <a:p>
            <a:r>
              <a:rPr lang="en-US"/>
              <a:t>THEKAMALNAIN</a:t>
            </a:r>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366171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A5AD16-5A41-4C7D-813F-3A494BA17E93}" type="datetime1">
              <a:rPr lang="en-US" smtClean="0"/>
              <a:t>9/1/2021</a:t>
            </a:fld>
            <a:endParaRPr lang="en-US"/>
          </a:p>
        </p:txBody>
      </p:sp>
      <p:sp>
        <p:nvSpPr>
          <p:cNvPr id="3" name="Footer Placeholder 2"/>
          <p:cNvSpPr>
            <a:spLocks noGrp="1"/>
          </p:cNvSpPr>
          <p:nvPr>
            <p:ph type="ftr" sz="quarter" idx="11"/>
          </p:nvPr>
        </p:nvSpPr>
        <p:spPr/>
        <p:txBody>
          <a:bodyPr/>
          <a:lstStyle/>
          <a:p>
            <a:r>
              <a:rPr lang="en-US"/>
              <a:t>THEKAMALNAIN</a:t>
            </a:r>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22401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B4664283-3ED5-48D6-9FAF-282CCAA00D7F}" type="datetime1">
              <a:rPr lang="en-US" smtClean="0"/>
              <a:t>9/1/2021</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r>
              <a:rPr lang="en-US"/>
              <a:t>THEKAMALNAIN</a:t>
            </a:r>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32336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FEFED08C-37E3-440F-BE79-EAEDBE39BD16}" type="datetime1">
              <a:rPr lang="en-US" smtClean="0"/>
              <a:t>9/1/2021</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r>
              <a:rPr lang="en-US"/>
              <a:t>THEKAMALNAIN</a:t>
            </a:r>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2581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DFE5FB-F53A-4512-B906-CFDD8B637931}" type="datetime1">
              <a:rPr lang="en-US" smtClean="0"/>
              <a:t>9/1/2021</a:t>
            </a:fld>
            <a:endParaRPr lang="en-US"/>
          </a:p>
        </p:txBody>
      </p:sp>
      <p:sp>
        <p:nvSpPr>
          <p:cNvPr id="5" name="Footer Placeholder 4"/>
          <p:cNvSpPr>
            <a:spLocks noGrp="1"/>
          </p:cNvSpPr>
          <p:nvPr>
            <p:ph type="ftr" sz="quarter" idx="11"/>
          </p:nvPr>
        </p:nvSpPr>
        <p:spPr/>
        <p:txBody>
          <a:bodyPr/>
          <a:lstStyle/>
          <a:p>
            <a:r>
              <a:rPr lang="en-US"/>
              <a:t>THEKAMALNAIN</a:t>
            </a:r>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949135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BFEBE2-64EC-4C69-A353-980DFD024751}" type="datetime1">
              <a:rPr lang="en-US" smtClean="0"/>
              <a:t>9/1/2021</a:t>
            </a:fld>
            <a:endParaRPr lang="en-US"/>
          </a:p>
        </p:txBody>
      </p:sp>
      <p:sp>
        <p:nvSpPr>
          <p:cNvPr id="5" name="Footer Placeholder 4"/>
          <p:cNvSpPr>
            <a:spLocks noGrp="1"/>
          </p:cNvSpPr>
          <p:nvPr>
            <p:ph type="ftr" sz="quarter" idx="11"/>
          </p:nvPr>
        </p:nvSpPr>
        <p:spPr/>
        <p:txBody>
          <a:bodyPr/>
          <a:lstStyle/>
          <a:p>
            <a:r>
              <a:rPr lang="en-US"/>
              <a:t>THEKAMALNAIN</a:t>
            </a:r>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381082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11C3094A-3672-468C-8F19-84AD4A6E22BE}" type="datetime1">
              <a:rPr lang="en-US" smtClean="0"/>
              <a:t>9/1/2021</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r>
              <a:rPr lang="en-US"/>
              <a:t>THEKAMALNAIN</a:t>
            </a:r>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55979093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67" r:id="rId5"/>
    <p:sldLayoutId id="2147483662" r:id="rId6"/>
    <p:sldLayoutId id="2147483663" r:id="rId7"/>
    <p:sldLayoutId id="2147483664" r:id="rId8"/>
    <p:sldLayoutId id="2147483665" r:id="rId9"/>
    <p:sldLayoutId id="2147483666" r:id="rId10"/>
    <p:sldLayoutId id="2147483668" r:id="rId11"/>
  </p:sldLayoutIdLst>
  <p:hf sldNum="0" hdr="0" dt="0"/>
  <p:txStyles>
    <p:titleStyle>
      <a:lvl1pPr algn="l" defTabSz="914400" rtl="0" eaLnBrk="1" latinLnBrk="0" hangingPunct="1">
        <a:lnSpc>
          <a:spcPct val="90000"/>
        </a:lnSpc>
        <a:spcBef>
          <a:spcPct val="0"/>
        </a:spcBef>
        <a:buNone/>
        <a:defRPr lang="en-US" sz="6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CD016D-A910-4F01-B805-6967A42DF670}"/>
              </a:ext>
            </a:extLst>
          </p:cNvPr>
          <p:cNvPicPr>
            <a:picLocks noChangeAspect="1"/>
          </p:cNvPicPr>
          <p:nvPr/>
        </p:nvPicPr>
        <p:blipFill rotWithShape="1">
          <a:blip r:embed="rId2"/>
          <a:srcRect t="14308" b="29442"/>
          <a:stretch/>
        </p:blipFill>
        <p:spPr>
          <a:xfrm>
            <a:off x="0" y="10"/>
            <a:ext cx="12191979" cy="6857990"/>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2210" cy="6858000"/>
          </a:xfrm>
          <a:prstGeom prst="rect">
            <a:avLst/>
          </a:prstGeom>
          <a:solidFill>
            <a:schemeClr val="bg1">
              <a:alpha val="30000"/>
            </a:schemeClr>
          </a:solidFill>
          <a:ln w="6350" cap="sq" cmpd="sng" algn="ctr">
            <a:noFill/>
            <a:prstDash val="solid"/>
            <a:miter lim="800000"/>
          </a:ln>
          <a:effectLst/>
        </p:spPr>
      </p:sp>
      <p:sp>
        <p:nvSpPr>
          <p:cNvPr id="11" name="Rectangle 10">
            <a:extLst>
              <a:ext uri="{FF2B5EF4-FFF2-40B4-BE49-F238E27FC236}">
                <a16:creationId xmlns:a16="http://schemas.microsoft.com/office/drawing/2014/main" id="{7990846F-3F1A-44C0-89BC-2CEB1E8F58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2210" cy="6858000"/>
          </a:xfrm>
          <a:prstGeom prst="rect">
            <a:avLst/>
          </a:prstGeom>
          <a:solidFill>
            <a:srgbClr val="E72931">
              <a:alpha val="40000"/>
            </a:srgbClr>
          </a:solidFill>
          <a:ln w="6350" cap="sq" cmpd="sng" algn="ctr">
            <a:noFill/>
            <a:prstDash val="solid"/>
            <a:miter lim="800000"/>
          </a:ln>
          <a:effectLst/>
        </p:spPr>
      </p:sp>
      <p:sp>
        <p:nvSpPr>
          <p:cNvPr id="13" name="Rectangle 1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3977" y="164592"/>
            <a:ext cx="4334256" cy="6528816"/>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95E9EE39-8EE3-4972-BA1A-434678E9BC65}"/>
              </a:ext>
            </a:extLst>
          </p:cNvPr>
          <p:cNvSpPr>
            <a:spLocks noGrp="1"/>
          </p:cNvSpPr>
          <p:nvPr>
            <p:ph type="ctrTitle"/>
          </p:nvPr>
        </p:nvSpPr>
        <p:spPr>
          <a:xfrm>
            <a:off x="466524" y="1340361"/>
            <a:ext cx="3729162" cy="3341700"/>
          </a:xfrm>
        </p:spPr>
        <p:txBody>
          <a:bodyPr>
            <a:normAutofit/>
          </a:bodyPr>
          <a:lstStyle/>
          <a:p>
            <a:r>
              <a:rPr lang="en-US" sz="8000" dirty="0">
                <a:solidFill>
                  <a:schemeClr val="tx1"/>
                </a:solidFill>
              </a:rPr>
              <a:t>Core Java</a:t>
            </a:r>
            <a:br>
              <a:rPr lang="en-US" sz="8000" dirty="0">
                <a:solidFill>
                  <a:schemeClr val="tx1"/>
                </a:solidFill>
              </a:rPr>
            </a:br>
            <a:r>
              <a:rPr lang="en-US" sz="8000" dirty="0">
                <a:solidFill>
                  <a:schemeClr val="tx1"/>
                </a:solidFill>
              </a:rPr>
              <a:t>OOP’s</a:t>
            </a:r>
            <a:br>
              <a:rPr lang="en-US" sz="8000" dirty="0">
                <a:solidFill>
                  <a:schemeClr val="tx1"/>
                </a:solidFill>
              </a:rPr>
            </a:br>
            <a:endParaRPr lang="en-US" sz="8000" dirty="0">
              <a:solidFill>
                <a:schemeClr val="tx1"/>
              </a:solidFill>
            </a:endParaRPr>
          </a:p>
        </p:txBody>
      </p:sp>
      <p:sp>
        <p:nvSpPr>
          <p:cNvPr id="3" name="Subtitle 2">
            <a:extLst>
              <a:ext uri="{FF2B5EF4-FFF2-40B4-BE49-F238E27FC236}">
                <a16:creationId xmlns:a16="http://schemas.microsoft.com/office/drawing/2014/main" id="{078A5910-BB53-4812-801B-C811876F1601}"/>
              </a:ext>
            </a:extLst>
          </p:cNvPr>
          <p:cNvSpPr>
            <a:spLocks noGrp="1"/>
          </p:cNvSpPr>
          <p:nvPr>
            <p:ph type="subTitle" idx="1"/>
          </p:nvPr>
        </p:nvSpPr>
        <p:spPr>
          <a:xfrm>
            <a:off x="434284" y="4731476"/>
            <a:ext cx="3793642" cy="970905"/>
          </a:xfrm>
        </p:spPr>
        <p:txBody>
          <a:bodyPr>
            <a:normAutofit/>
          </a:bodyPr>
          <a:lstStyle/>
          <a:p>
            <a:r>
              <a:rPr lang="en-US" dirty="0">
                <a:solidFill>
                  <a:schemeClr val="tx1"/>
                </a:solidFill>
              </a:rPr>
              <a:t>#THEKAMALNAIN</a:t>
            </a:r>
          </a:p>
          <a:p>
            <a:r>
              <a:rPr lang="en-US" dirty="0">
                <a:solidFill>
                  <a:schemeClr val="tx1"/>
                </a:solidFill>
              </a:rPr>
              <a:t>@THEKAMALNAIN</a:t>
            </a:r>
          </a:p>
          <a:p>
            <a:endParaRPr lang="en-US" dirty="0">
              <a:solidFill>
                <a:schemeClr val="tx1"/>
              </a:solidFill>
            </a:endParaRPr>
          </a:p>
        </p:txBody>
      </p:sp>
    </p:spTree>
    <p:extLst>
      <p:ext uri="{BB962C8B-B14F-4D97-AF65-F5344CB8AC3E}">
        <p14:creationId xmlns:p14="http://schemas.microsoft.com/office/powerpoint/2010/main" val="30783281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1F99-C49A-40EF-A1F6-1BC4A216722A}"/>
              </a:ext>
            </a:extLst>
          </p:cNvPr>
          <p:cNvSpPr>
            <a:spLocks noGrp="1"/>
          </p:cNvSpPr>
          <p:nvPr>
            <p:ph type="title"/>
          </p:nvPr>
        </p:nvSpPr>
        <p:spPr/>
        <p:txBody>
          <a:bodyPr/>
          <a:lstStyle/>
          <a:p>
            <a:r>
              <a:rPr lang="en-US" dirty="0"/>
              <a:t>What </a:t>
            </a:r>
            <a:r>
              <a:rPr lang="en-US"/>
              <a:t>is OOP’s</a:t>
            </a:r>
            <a:endParaRPr lang="en-US" dirty="0"/>
          </a:p>
        </p:txBody>
      </p:sp>
      <p:sp>
        <p:nvSpPr>
          <p:cNvPr id="3" name="Content Placeholder 2">
            <a:extLst>
              <a:ext uri="{FF2B5EF4-FFF2-40B4-BE49-F238E27FC236}">
                <a16:creationId xmlns:a16="http://schemas.microsoft.com/office/drawing/2014/main" id="{51474333-7310-4C80-BFBE-B2461B6C0343}"/>
              </a:ext>
            </a:extLst>
          </p:cNvPr>
          <p:cNvSpPr>
            <a:spLocks noGrp="1"/>
          </p:cNvSpPr>
          <p:nvPr>
            <p:ph idx="1"/>
          </p:nvPr>
        </p:nvSpPr>
        <p:spPr/>
        <p:txBody>
          <a:bodyPr anchor="ctr">
            <a:normAutofit/>
          </a:bodyPr>
          <a:lstStyle/>
          <a:p>
            <a:r>
              <a:rPr lang="en-US" sz="2000" dirty="0"/>
              <a:t>OOPs stands for Object-Oriented Programming System</a:t>
            </a:r>
          </a:p>
          <a:p>
            <a:endParaRPr lang="en-US" sz="2000" dirty="0"/>
          </a:p>
          <a:p>
            <a:r>
              <a:rPr lang="en-US" sz="2000" dirty="0"/>
              <a:t>OOP refers to a type of programming in which programmers define the data type of a data structure and the type of operations that can be applied to the data structure.</a:t>
            </a:r>
          </a:p>
          <a:p>
            <a:endParaRPr lang="en-US" sz="2000" dirty="0"/>
          </a:p>
          <a:p>
            <a:pPr marL="0" indent="0">
              <a:buNone/>
            </a:pPr>
            <a:endParaRPr lang="en-US" sz="2000" dirty="0"/>
          </a:p>
        </p:txBody>
      </p:sp>
      <p:sp>
        <p:nvSpPr>
          <p:cNvPr id="4" name="Footer Placeholder 3">
            <a:extLst>
              <a:ext uri="{FF2B5EF4-FFF2-40B4-BE49-F238E27FC236}">
                <a16:creationId xmlns:a16="http://schemas.microsoft.com/office/drawing/2014/main" id="{C8E1E0BC-3DE3-4B0A-8DDB-0AEAE1E36249}"/>
              </a:ext>
            </a:extLst>
          </p:cNvPr>
          <p:cNvSpPr>
            <a:spLocks noGrp="1"/>
          </p:cNvSpPr>
          <p:nvPr>
            <p:ph type="ftr" sz="quarter" idx="11"/>
          </p:nvPr>
        </p:nvSpPr>
        <p:spPr/>
        <p:txBody>
          <a:bodyPr/>
          <a:lstStyle/>
          <a:p>
            <a:r>
              <a:rPr lang="en-US"/>
              <a:t>THEKAMALNAIN</a:t>
            </a:r>
          </a:p>
        </p:txBody>
      </p:sp>
    </p:spTree>
    <p:extLst>
      <p:ext uri="{BB962C8B-B14F-4D97-AF65-F5344CB8AC3E}">
        <p14:creationId xmlns:p14="http://schemas.microsoft.com/office/powerpoint/2010/main" val="414950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8BB2-0F23-44CC-B2EA-2653C7C6DB4B}"/>
              </a:ext>
            </a:extLst>
          </p:cNvPr>
          <p:cNvSpPr>
            <a:spLocks noGrp="1"/>
          </p:cNvSpPr>
          <p:nvPr>
            <p:ph type="title"/>
          </p:nvPr>
        </p:nvSpPr>
        <p:spPr>
          <a:xfrm>
            <a:off x="374573" y="642594"/>
            <a:ext cx="11336357" cy="1371600"/>
          </a:xfrm>
        </p:spPr>
        <p:txBody>
          <a:bodyPr>
            <a:normAutofit fontScale="90000"/>
          </a:bodyPr>
          <a:lstStyle/>
          <a:p>
            <a:r>
              <a:rPr lang="en-US" dirty="0"/>
              <a:t>Basic Principles/ Building Blocks Of OOP’s</a:t>
            </a:r>
          </a:p>
        </p:txBody>
      </p:sp>
      <p:sp>
        <p:nvSpPr>
          <p:cNvPr id="3" name="Content Placeholder 2">
            <a:extLst>
              <a:ext uri="{FF2B5EF4-FFF2-40B4-BE49-F238E27FC236}">
                <a16:creationId xmlns:a16="http://schemas.microsoft.com/office/drawing/2014/main" id="{C4335965-F3ED-4E72-A28D-D94D47FC78F9}"/>
              </a:ext>
            </a:extLst>
          </p:cNvPr>
          <p:cNvSpPr>
            <a:spLocks noGrp="1"/>
          </p:cNvSpPr>
          <p:nvPr>
            <p:ph idx="1"/>
          </p:nvPr>
        </p:nvSpPr>
        <p:spPr/>
        <p:txBody>
          <a:bodyPr>
            <a:normAutofit/>
          </a:bodyPr>
          <a:lstStyle/>
          <a:p>
            <a:pPr algn="just"/>
            <a:r>
              <a:rPr lang="en-US" sz="2000" dirty="0"/>
              <a:t>Principles/ Building Blocks is:-</a:t>
            </a:r>
          </a:p>
          <a:p>
            <a:pPr algn="just"/>
            <a:r>
              <a:rPr lang="en-US" sz="2000" dirty="0"/>
              <a:t>Object</a:t>
            </a:r>
          </a:p>
          <a:p>
            <a:pPr algn="just"/>
            <a:r>
              <a:rPr lang="en-US" sz="2000" dirty="0"/>
              <a:t>Class</a:t>
            </a:r>
          </a:p>
          <a:p>
            <a:pPr algn="just"/>
            <a:r>
              <a:rPr lang="en-US" sz="2000" dirty="0"/>
              <a:t>Inheritance</a:t>
            </a:r>
          </a:p>
          <a:p>
            <a:pPr algn="just"/>
            <a:r>
              <a:rPr lang="en-US" sz="2000" dirty="0"/>
              <a:t>Polymorphism</a:t>
            </a:r>
          </a:p>
          <a:p>
            <a:pPr algn="just"/>
            <a:r>
              <a:rPr lang="en-US" sz="2000" dirty="0"/>
              <a:t>Abstraction</a:t>
            </a:r>
          </a:p>
          <a:p>
            <a:pPr algn="just"/>
            <a:r>
              <a:rPr lang="en-US" sz="2000" dirty="0"/>
              <a:t>Encapsulation</a:t>
            </a:r>
          </a:p>
        </p:txBody>
      </p:sp>
      <p:sp>
        <p:nvSpPr>
          <p:cNvPr id="4" name="Footer Placeholder 3">
            <a:extLst>
              <a:ext uri="{FF2B5EF4-FFF2-40B4-BE49-F238E27FC236}">
                <a16:creationId xmlns:a16="http://schemas.microsoft.com/office/drawing/2014/main" id="{AB6DB3A9-92E2-47CC-BFF1-592A3A1742E4}"/>
              </a:ext>
            </a:extLst>
          </p:cNvPr>
          <p:cNvSpPr>
            <a:spLocks noGrp="1"/>
          </p:cNvSpPr>
          <p:nvPr>
            <p:ph type="ftr" sz="quarter" idx="11"/>
          </p:nvPr>
        </p:nvSpPr>
        <p:spPr/>
        <p:txBody>
          <a:bodyPr/>
          <a:lstStyle/>
          <a:p>
            <a:r>
              <a:rPr lang="en-US"/>
              <a:t>THEKAMALNAIN</a:t>
            </a:r>
          </a:p>
        </p:txBody>
      </p:sp>
    </p:spTree>
    <p:extLst>
      <p:ext uri="{BB962C8B-B14F-4D97-AF65-F5344CB8AC3E}">
        <p14:creationId xmlns:p14="http://schemas.microsoft.com/office/powerpoint/2010/main" val="916726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2E35A-CB16-4819-ACFE-CC7E44198431}"/>
              </a:ext>
            </a:extLst>
          </p:cNvPr>
          <p:cNvSpPr>
            <a:spLocks noGrp="1"/>
          </p:cNvSpPr>
          <p:nvPr>
            <p:ph type="title"/>
          </p:nvPr>
        </p:nvSpPr>
        <p:spPr/>
        <p:txBody>
          <a:bodyPr/>
          <a:lstStyle/>
          <a:p>
            <a:r>
              <a:rPr lang="en-US" dirty="0"/>
              <a:t>Object</a:t>
            </a:r>
          </a:p>
        </p:txBody>
      </p:sp>
      <p:sp>
        <p:nvSpPr>
          <p:cNvPr id="3" name="Content Placeholder 2">
            <a:extLst>
              <a:ext uri="{FF2B5EF4-FFF2-40B4-BE49-F238E27FC236}">
                <a16:creationId xmlns:a16="http://schemas.microsoft.com/office/drawing/2014/main" id="{F6DA4B22-4308-414A-A271-E6914BA785B3}"/>
              </a:ext>
            </a:extLst>
          </p:cNvPr>
          <p:cNvSpPr>
            <a:spLocks noGrp="1"/>
          </p:cNvSpPr>
          <p:nvPr>
            <p:ph idx="1"/>
          </p:nvPr>
        </p:nvSpPr>
        <p:spPr/>
        <p:txBody>
          <a:bodyPr anchor="ctr">
            <a:normAutofit/>
          </a:bodyPr>
          <a:lstStyle/>
          <a:p>
            <a:r>
              <a:rPr lang="en-US" sz="2000" dirty="0"/>
              <a:t>Any entity that has state and behavior is known as an object. For example, a chair, pen, table.</a:t>
            </a:r>
          </a:p>
          <a:p>
            <a:endParaRPr lang="en-US" sz="2000" dirty="0"/>
          </a:p>
          <a:p>
            <a:r>
              <a:rPr lang="en-US" sz="2000" dirty="0"/>
              <a:t>Object can be defined as an instance of a class. An object contains an address and takes up some space in memory. Objects can communicate without knowing the details of each other's data or code.</a:t>
            </a:r>
          </a:p>
        </p:txBody>
      </p:sp>
      <p:sp>
        <p:nvSpPr>
          <p:cNvPr id="4" name="Footer Placeholder 3">
            <a:extLst>
              <a:ext uri="{FF2B5EF4-FFF2-40B4-BE49-F238E27FC236}">
                <a16:creationId xmlns:a16="http://schemas.microsoft.com/office/drawing/2014/main" id="{20A11E0E-E340-4E75-A090-784CB28F52C2}"/>
              </a:ext>
            </a:extLst>
          </p:cNvPr>
          <p:cNvSpPr>
            <a:spLocks noGrp="1"/>
          </p:cNvSpPr>
          <p:nvPr>
            <p:ph type="ftr" sz="quarter" idx="11"/>
          </p:nvPr>
        </p:nvSpPr>
        <p:spPr/>
        <p:txBody>
          <a:bodyPr/>
          <a:lstStyle/>
          <a:p>
            <a:r>
              <a:rPr lang="en-US"/>
              <a:t>THEKAMALNAIN</a:t>
            </a:r>
          </a:p>
        </p:txBody>
      </p:sp>
    </p:spTree>
    <p:extLst>
      <p:ext uri="{BB962C8B-B14F-4D97-AF65-F5344CB8AC3E}">
        <p14:creationId xmlns:p14="http://schemas.microsoft.com/office/powerpoint/2010/main" val="2005196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FF55D-81BC-455E-8F6A-0897672A0F93}"/>
              </a:ext>
            </a:extLst>
          </p:cNvPr>
          <p:cNvSpPr>
            <a:spLocks noGrp="1"/>
          </p:cNvSpPr>
          <p:nvPr>
            <p:ph type="title"/>
          </p:nvPr>
        </p:nvSpPr>
        <p:spPr/>
        <p:txBody>
          <a:bodyPr/>
          <a:lstStyle/>
          <a:p>
            <a:r>
              <a:rPr lang="en-US" dirty="0"/>
              <a:t>Class</a:t>
            </a:r>
          </a:p>
        </p:txBody>
      </p:sp>
      <p:sp>
        <p:nvSpPr>
          <p:cNvPr id="3" name="Content Placeholder 2">
            <a:extLst>
              <a:ext uri="{FF2B5EF4-FFF2-40B4-BE49-F238E27FC236}">
                <a16:creationId xmlns:a16="http://schemas.microsoft.com/office/drawing/2014/main" id="{3BBA2C84-1FB3-49C5-B7F3-7DF01FE821A4}"/>
              </a:ext>
            </a:extLst>
          </p:cNvPr>
          <p:cNvSpPr>
            <a:spLocks noGrp="1"/>
          </p:cNvSpPr>
          <p:nvPr>
            <p:ph idx="1"/>
          </p:nvPr>
        </p:nvSpPr>
        <p:spPr/>
        <p:txBody>
          <a:bodyPr anchor="ctr">
            <a:normAutofit/>
          </a:bodyPr>
          <a:lstStyle/>
          <a:p>
            <a:r>
              <a:rPr lang="en-US" sz="2000" dirty="0"/>
              <a:t>A Class is like an object constructor, Class can also be defined as a "blueprint" for creating objects or blueprint from which you can create an individual object.</a:t>
            </a:r>
          </a:p>
          <a:p>
            <a:pPr marL="0" indent="0">
              <a:buNone/>
            </a:pPr>
            <a:endParaRPr lang="en-US" sz="2000" dirty="0"/>
          </a:p>
          <a:p>
            <a:pPr marL="0" indent="0">
              <a:buNone/>
            </a:pPr>
            <a:r>
              <a:rPr lang="en-US" sz="2000" dirty="0"/>
              <a:t>	Class doesn't consume any space.</a:t>
            </a:r>
          </a:p>
        </p:txBody>
      </p:sp>
      <p:sp>
        <p:nvSpPr>
          <p:cNvPr id="4" name="Footer Placeholder 3">
            <a:extLst>
              <a:ext uri="{FF2B5EF4-FFF2-40B4-BE49-F238E27FC236}">
                <a16:creationId xmlns:a16="http://schemas.microsoft.com/office/drawing/2014/main" id="{1D089F14-AF3C-49F2-A811-A6F2E609088C}"/>
              </a:ext>
            </a:extLst>
          </p:cNvPr>
          <p:cNvSpPr>
            <a:spLocks noGrp="1"/>
          </p:cNvSpPr>
          <p:nvPr>
            <p:ph type="ftr" sz="quarter" idx="11"/>
          </p:nvPr>
        </p:nvSpPr>
        <p:spPr/>
        <p:txBody>
          <a:bodyPr/>
          <a:lstStyle/>
          <a:p>
            <a:r>
              <a:rPr lang="en-US"/>
              <a:t>THEKAMALNAIN</a:t>
            </a:r>
          </a:p>
        </p:txBody>
      </p:sp>
    </p:spTree>
    <p:extLst>
      <p:ext uri="{BB962C8B-B14F-4D97-AF65-F5344CB8AC3E}">
        <p14:creationId xmlns:p14="http://schemas.microsoft.com/office/powerpoint/2010/main" val="2993533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852EF-D779-47B8-B63A-32089B4E5CEA}"/>
              </a:ext>
            </a:extLst>
          </p:cNvPr>
          <p:cNvSpPr>
            <a:spLocks noGrp="1"/>
          </p:cNvSpPr>
          <p:nvPr>
            <p:ph type="title"/>
          </p:nvPr>
        </p:nvSpPr>
        <p:spPr/>
        <p:txBody>
          <a:bodyPr/>
          <a:lstStyle/>
          <a:p>
            <a:r>
              <a:rPr lang="en-US" dirty="0"/>
              <a:t>Inheritance</a:t>
            </a:r>
          </a:p>
        </p:txBody>
      </p:sp>
      <p:sp>
        <p:nvSpPr>
          <p:cNvPr id="3" name="Content Placeholder 2">
            <a:extLst>
              <a:ext uri="{FF2B5EF4-FFF2-40B4-BE49-F238E27FC236}">
                <a16:creationId xmlns:a16="http://schemas.microsoft.com/office/drawing/2014/main" id="{FE103A82-6B8D-4E72-9729-5A8BFFC5D079}"/>
              </a:ext>
            </a:extLst>
          </p:cNvPr>
          <p:cNvSpPr>
            <a:spLocks noGrp="1"/>
          </p:cNvSpPr>
          <p:nvPr>
            <p:ph idx="1"/>
          </p:nvPr>
        </p:nvSpPr>
        <p:spPr/>
        <p:txBody>
          <a:bodyPr anchor="ctr">
            <a:normAutofit/>
          </a:bodyPr>
          <a:lstStyle/>
          <a:p>
            <a:r>
              <a:rPr lang="en-US" sz="2000" dirty="0"/>
              <a:t>Inheritance can be defined as the process where one class acquires the properties (methods and fields) of another</a:t>
            </a:r>
          </a:p>
          <a:p>
            <a:r>
              <a:rPr lang="en-US" sz="2000" dirty="0"/>
              <a:t>The class which inherits the properties of other is known as subclass (derived class, child class) and the class whose properties are inherited is known as superclass (base class, parent class).</a:t>
            </a:r>
          </a:p>
        </p:txBody>
      </p:sp>
      <p:sp>
        <p:nvSpPr>
          <p:cNvPr id="4" name="Footer Placeholder 3">
            <a:extLst>
              <a:ext uri="{FF2B5EF4-FFF2-40B4-BE49-F238E27FC236}">
                <a16:creationId xmlns:a16="http://schemas.microsoft.com/office/drawing/2014/main" id="{8A28941C-04CD-4B12-A974-6E95AFA4C413}"/>
              </a:ext>
            </a:extLst>
          </p:cNvPr>
          <p:cNvSpPr>
            <a:spLocks noGrp="1"/>
          </p:cNvSpPr>
          <p:nvPr>
            <p:ph type="ftr" sz="quarter" idx="11"/>
          </p:nvPr>
        </p:nvSpPr>
        <p:spPr/>
        <p:txBody>
          <a:bodyPr/>
          <a:lstStyle/>
          <a:p>
            <a:r>
              <a:rPr lang="en-US"/>
              <a:t>THEKAMALNAIN</a:t>
            </a:r>
          </a:p>
        </p:txBody>
      </p:sp>
    </p:spTree>
    <p:extLst>
      <p:ext uri="{BB962C8B-B14F-4D97-AF65-F5344CB8AC3E}">
        <p14:creationId xmlns:p14="http://schemas.microsoft.com/office/powerpoint/2010/main" val="749536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FA132-ED58-4EAE-9FFA-D9B441CA4C6B}"/>
              </a:ext>
            </a:extLst>
          </p:cNvPr>
          <p:cNvSpPr>
            <a:spLocks noGrp="1"/>
          </p:cNvSpPr>
          <p:nvPr>
            <p:ph type="title"/>
          </p:nvPr>
        </p:nvSpPr>
        <p:spPr/>
        <p:txBody>
          <a:bodyPr/>
          <a:lstStyle/>
          <a:p>
            <a:r>
              <a:rPr lang="en-US" dirty="0"/>
              <a:t>Polymorphism</a:t>
            </a:r>
          </a:p>
        </p:txBody>
      </p:sp>
      <p:sp>
        <p:nvSpPr>
          <p:cNvPr id="3" name="Content Placeholder 2">
            <a:extLst>
              <a:ext uri="{FF2B5EF4-FFF2-40B4-BE49-F238E27FC236}">
                <a16:creationId xmlns:a16="http://schemas.microsoft.com/office/drawing/2014/main" id="{6D31F60B-D42B-4092-AC61-32F03BCDC4A7}"/>
              </a:ext>
            </a:extLst>
          </p:cNvPr>
          <p:cNvSpPr>
            <a:spLocks noGrp="1"/>
          </p:cNvSpPr>
          <p:nvPr>
            <p:ph idx="1"/>
          </p:nvPr>
        </p:nvSpPr>
        <p:spPr/>
        <p:txBody>
          <a:bodyPr anchor="ctr">
            <a:normAutofit/>
          </a:bodyPr>
          <a:lstStyle/>
          <a:p>
            <a:r>
              <a:rPr lang="en-US" sz="2000" dirty="0"/>
              <a:t>Polymorphism means "many forms", and it occurs when we have many classes that are related to each other.</a:t>
            </a:r>
          </a:p>
          <a:p>
            <a:r>
              <a:rPr lang="en-US" sz="2000" dirty="0"/>
              <a:t>Polymorphism uses those methods to perform different tasks. This allows us to perform a single action in different ways.</a:t>
            </a:r>
          </a:p>
        </p:txBody>
      </p:sp>
      <p:sp>
        <p:nvSpPr>
          <p:cNvPr id="4" name="Footer Placeholder 3">
            <a:extLst>
              <a:ext uri="{FF2B5EF4-FFF2-40B4-BE49-F238E27FC236}">
                <a16:creationId xmlns:a16="http://schemas.microsoft.com/office/drawing/2014/main" id="{85C676E1-42FB-4CD6-82DA-5EAF30D20375}"/>
              </a:ext>
            </a:extLst>
          </p:cNvPr>
          <p:cNvSpPr>
            <a:spLocks noGrp="1"/>
          </p:cNvSpPr>
          <p:nvPr>
            <p:ph type="ftr" sz="quarter" idx="11"/>
          </p:nvPr>
        </p:nvSpPr>
        <p:spPr/>
        <p:txBody>
          <a:bodyPr/>
          <a:lstStyle/>
          <a:p>
            <a:r>
              <a:rPr lang="en-US"/>
              <a:t>THEKAMALNAIN</a:t>
            </a:r>
          </a:p>
        </p:txBody>
      </p:sp>
    </p:spTree>
    <p:extLst>
      <p:ext uri="{BB962C8B-B14F-4D97-AF65-F5344CB8AC3E}">
        <p14:creationId xmlns:p14="http://schemas.microsoft.com/office/powerpoint/2010/main" val="1777492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6863D-CCCA-4BE7-8E4D-C2E923F8873C}"/>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90911B8F-1191-479A-B200-81D185A65ED5}"/>
              </a:ext>
            </a:extLst>
          </p:cNvPr>
          <p:cNvSpPr>
            <a:spLocks noGrp="1"/>
          </p:cNvSpPr>
          <p:nvPr>
            <p:ph idx="1"/>
          </p:nvPr>
        </p:nvSpPr>
        <p:spPr/>
        <p:txBody>
          <a:bodyPr>
            <a:normAutofit/>
          </a:bodyPr>
          <a:lstStyle/>
          <a:p>
            <a:r>
              <a:rPr lang="en-US" sz="2000" dirty="0"/>
              <a:t>The main purpose of abstraction is hiding the unnecessary details from the users. Abstraction is selecting data from a larger pool to show only relevant details of the object to the user. It helps in reducing programming complexity and efforts</a:t>
            </a:r>
          </a:p>
        </p:txBody>
      </p:sp>
      <p:sp>
        <p:nvSpPr>
          <p:cNvPr id="4" name="Footer Placeholder 3">
            <a:extLst>
              <a:ext uri="{FF2B5EF4-FFF2-40B4-BE49-F238E27FC236}">
                <a16:creationId xmlns:a16="http://schemas.microsoft.com/office/drawing/2014/main" id="{1F3B645F-C869-4D24-AF2C-9812159DB20D}"/>
              </a:ext>
            </a:extLst>
          </p:cNvPr>
          <p:cNvSpPr>
            <a:spLocks noGrp="1"/>
          </p:cNvSpPr>
          <p:nvPr>
            <p:ph type="ftr" sz="quarter" idx="11"/>
          </p:nvPr>
        </p:nvSpPr>
        <p:spPr/>
        <p:txBody>
          <a:bodyPr/>
          <a:lstStyle/>
          <a:p>
            <a:r>
              <a:rPr lang="en-US"/>
              <a:t>THEKAMALNAIN</a:t>
            </a:r>
          </a:p>
        </p:txBody>
      </p:sp>
    </p:spTree>
    <p:extLst>
      <p:ext uri="{BB962C8B-B14F-4D97-AF65-F5344CB8AC3E}">
        <p14:creationId xmlns:p14="http://schemas.microsoft.com/office/powerpoint/2010/main" val="2530726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AC6E4-BD73-428F-8D51-C9C4015972F9}"/>
              </a:ext>
            </a:extLst>
          </p:cNvPr>
          <p:cNvSpPr>
            <a:spLocks noGrp="1"/>
          </p:cNvSpPr>
          <p:nvPr>
            <p:ph type="title"/>
          </p:nvPr>
        </p:nvSpPr>
        <p:spPr/>
        <p:txBody>
          <a:bodyPr>
            <a:normAutofit/>
          </a:bodyPr>
          <a:lstStyle/>
          <a:p>
            <a:r>
              <a:rPr lang="en-US" dirty="0"/>
              <a:t>Encapsulation</a:t>
            </a:r>
          </a:p>
        </p:txBody>
      </p:sp>
      <p:sp>
        <p:nvSpPr>
          <p:cNvPr id="3" name="Content Placeholder 2">
            <a:extLst>
              <a:ext uri="{FF2B5EF4-FFF2-40B4-BE49-F238E27FC236}">
                <a16:creationId xmlns:a16="http://schemas.microsoft.com/office/drawing/2014/main" id="{6574C03A-826D-4B45-A824-1843C37EF6DE}"/>
              </a:ext>
            </a:extLst>
          </p:cNvPr>
          <p:cNvSpPr>
            <a:spLocks noGrp="1"/>
          </p:cNvSpPr>
          <p:nvPr>
            <p:ph idx="1"/>
          </p:nvPr>
        </p:nvSpPr>
        <p:spPr/>
        <p:txBody>
          <a:bodyPr>
            <a:normAutofit/>
          </a:bodyPr>
          <a:lstStyle/>
          <a:p>
            <a:r>
              <a:rPr lang="en-US" sz="2000" dirty="0"/>
              <a:t>Encapsulation in Java is a mechanism of wrapping the data (variables) and code acting on the data (methods) together as a single unit. In encapsulation, the variables of a class will be hidden from other classes, and can be accessed only through the methods of their current class. Therefore, it is also known as data hiding.</a:t>
            </a:r>
          </a:p>
        </p:txBody>
      </p:sp>
      <p:sp>
        <p:nvSpPr>
          <p:cNvPr id="4" name="Footer Placeholder 3">
            <a:extLst>
              <a:ext uri="{FF2B5EF4-FFF2-40B4-BE49-F238E27FC236}">
                <a16:creationId xmlns:a16="http://schemas.microsoft.com/office/drawing/2014/main" id="{6154B49B-643A-4F2C-AE8B-760D807D0C20}"/>
              </a:ext>
            </a:extLst>
          </p:cNvPr>
          <p:cNvSpPr>
            <a:spLocks noGrp="1"/>
          </p:cNvSpPr>
          <p:nvPr>
            <p:ph type="ftr" sz="quarter" idx="11"/>
          </p:nvPr>
        </p:nvSpPr>
        <p:spPr/>
        <p:txBody>
          <a:bodyPr/>
          <a:lstStyle/>
          <a:p>
            <a:r>
              <a:rPr lang="en-US"/>
              <a:t>THEKAMALNAIN</a:t>
            </a:r>
          </a:p>
        </p:txBody>
      </p:sp>
    </p:spTree>
    <p:extLst>
      <p:ext uri="{BB962C8B-B14F-4D97-AF65-F5344CB8AC3E}">
        <p14:creationId xmlns:p14="http://schemas.microsoft.com/office/powerpoint/2010/main" val="40936417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RegularSeedRightStep">
      <a:dk1>
        <a:srgbClr val="000000"/>
      </a:dk1>
      <a:lt1>
        <a:srgbClr val="FFFFFF"/>
      </a:lt1>
      <a:dk2>
        <a:srgbClr val="412F24"/>
      </a:dk2>
      <a:lt2>
        <a:srgbClr val="E2E8E8"/>
      </a:lt2>
      <a:accent1>
        <a:srgbClr val="E72931"/>
      </a:accent1>
      <a:accent2>
        <a:srgbClr val="D55E17"/>
      </a:accent2>
      <a:accent3>
        <a:srgbClr val="C1A022"/>
      </a:accent3>
      <a:accent4>
        <a:srgbClr val="8FB013"/>
      </a:accent4>
      <a:accent5>
        <a:srgbClr val="59B721"/>
      </a:accent5>
      <a:accent6>
        <a:srgbClr val="15BE1C"/>
      </a:accent6>
      <a:hlink>
        <a:srgbClr val="30918D"/>
      </a:hlink>
      <a:folHlink>
        <a:srgbClr val="7F7F7F"/>
      </a:folHlink>
    </a:clrScheme>
    <a:fontScheme name="Savon">
      <a:majorFont>
        <a:latin typeface="Edwardian Script ITC"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emb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TotalTime>
  <Words>390</Words>
  <Application>Microsoft Office PowerPoint</Application>
  <PresentationFormat>Widescreen</PresentationFormat>
  <Paragraphs>41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Bembo</vt:lpstr>
      <vt:lpstr>Calibri</vt:lpstr>
      <vt:lpstr>Edwardian Script ITC</vt:lpstr>
      <vt:lpstr>Garamond</vt:lpstr>
      <vt:lpstr>SavonVTI</vt:lpstr>
      <vt:lpstr>Core Java OOP’s </vt:lpstr>
      <vt:lpstr>What is OOP’s</vt:lpstr>
      <vt:lpstr>Basic Principles/ Building Blocks Of OOP’s</vt:lpstr>
      <vt:lpstr>Object</vt:lpstr>
      <vt:lpstr>Class</vt:lpstr>
      <vt:lpstr>Inheritance</vt:lpstr>
      <vt:lpstr>Polymorphism</vt:lpstr>
      <vt:lpstr>Abstraction</vt:lpstr>
      <vt:lpstr>Encapsulation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Java</dc:title>
  <dc:creator>KAMAL NAIN</dc:creator>
  <cp:lastModifiedBy>KAMAL NAIN</cp:lastModifiedBy>
  <cp:revision>34</cp:revision>
  <dcterms:created xsi:type="dcterms:W3CDTF">2020-08-06T09:50:08Z</dcterms:created>
  <dcterms:modified xsi:type="dcterms:W3CDTF">2021-09-01T05:20:22Z</dcterms:modified>
</cp:coreProperties>
</file>