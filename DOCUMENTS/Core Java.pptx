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61" r:id="rId5"/>
    <p:sldId id="259"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8/6/2020</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4562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626216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8/6/2020</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297739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039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8/6/2020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48349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8/6/2020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6617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8/6/2020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2240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8/6/2020</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3233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8/6/2020</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2581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4913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8108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8/6/2020</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55979093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67" r:id="rId5"/>
    <p:sldLayoutId id="2147483662" r:id="rId6"/>
    <p:sldLayoutId id="2147483663" r:id="rId7"/>
    <p:sldLayoutId id="2147483664" r:id="rId8"/>
    <p:sldLayoutId id="2147483665" r:id="rId9"/>
    <p:sldLayoutId id="2147483666" r:id="rId10"/>
    <p:sldLayoutId id="2147483668" r:id="rId11"/>
  </p:sldLayoutIdLst>
  <p:hf sldNum="0" hdr="0" ftr="0" dt="0"/>
  <p:txStyles>
    <p:titleStyle>
      <a:lvl1pPr algn="l" defTabSz="914400" rtl="0" eaLnBrk="1" latinLnBrk="0" hangingPunct="1">
        <a:lnSpc>
          <a:spcPct val="90000"/>
        </a:lnSpc>
        <a:spcBef>
          <a:spcPct val="0"/>
        </a:spcBef>
        <a:buNone/>
        <a:defRPr lang="en-US" sz="6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D016D-A910-4F01-B805-6967A42DF670}"/>
              </a:ext>
            </a:extLst>
          </p:cNvPr>
          <p:cNvPicPr>
            <a:picLocks noChangeAspect="1"/>
          </p:cNvPicPr>
          <p:nvPr/>
        </p:nvPicPr>
        <p:blipFill rotWithShape="1">
          <a:blip r:embed="rId2"/>
          <a:srcRect t="14308" b="29442"/>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alpha val="30000"/>
            </a:schemeClr>
          </a:solidFill>
          <a:ln w="6350" cap="sq" cmpd="sng" algn="ctr">
            <a:noFill/>
            <a:prstDash val="solid"/>
            <a:miter lim="800000"/>
          </a:ln>
          <a:effectLst/>
        </p:spPr>
      </p:sp>
      <p:sp>
        <p:nvSpPr>
          <p:cNvPr id="11" name="Rectangle 10">
            <a:extLst>
              <a:ext uri="{FF2B5EF4-FFF2-40B4-BE49-F238E27FC236}">
                <a16:creationId xmlns:a16="http://schemas.microsoft.com/office/drawing/2014/main" id="{7990846F-3F1A-44C0-89BC-2CEB1E8F5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rgbClr val="E72931">
              <a:alpha val="40000"/>
            </a:srgbClr>
          </a:solidFill>
          <a:ln w="6350" cap="sq" cmpd="sng" algn="ctr">
            <a:noFill/>
            <a:prstDash val="solid"/>
            <a:miter lim="800000"/>
          </a:ln>
          <a:effectLst/>
        </p:spPr>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95E9EE39-8EE3-4972-BA1A-434678E9BC65}"/>
              </a:ext>
            </a:extLst>
          </p:cNvPr>
          <p:cNvSpPr>
            <a:spLocks noGrp="1"/>
          </p:cNvSpPr>
          <p:nvPr>
            <p:ph type="ctrTitle"/>
          </p:nvPr>
        </p:nvSpPr>
        <p:spPr>
          <a:xfrm>
            <a:off x="466524" y="1340361"/>
            <a:ext cx="3729162" cy="3341700"/>
          </a:xfrm>
        </p:spPr>
        <p:txBody>
          <a:bodyPr>
            <a:normAutofit/>
          </a:bodyPr>
          <a:lstStyle/>
          <a:p>
            <a:r>
              <a:rPr lang="en-US" sz="8000" dirty="0">
                <a:solidFill>
                  <a:schemeClr val="tx1"/>
                </a:solidFill>
              </a:rPr>
              <a:t>Core Java</a:t>
            </a:r>
          </a:p>
        </p:txBody>
      </p:sp>
      <p:sp>
        <p:nvSpPr>
          <p:cNvPr id="3" name="Subtitle 2">
            <a:extLst>
              <a:ext uri="{FF2B5EF4-FFF2-40B4-BE49-F238E27FC236}">
                <a16:creationId xmlns:a16="http://schemas.microsoft.com/office/drawing/2014/main" id="{078A5910-BB53-4812-801B-C811876F1601}"/>
              </a:ext>
            </a:extLst>
          </p:cNvPr>
          <p:cNvSpPr>
            <a:spLocks noGrp="1"/>
          </p:cNvSpPr>
          <p:nvPr>
            <p:ph type="subTitle" idx="1"/>
          </p:nvPr>
        </p:nvSpPr>
        <p:spPr>
          <a:xfrm>
            <a:off x="434284" y="4731476"/>
            <a:ext cx="3793642" cy="970905"/>
          </a:xfrm>
        </p:spPr>
        <p:txBody>
          <a:bodyPr>
            <a:normAutofit/>
          </a:bodyPr>
          <a:lstStyle/>
          <a:p>
            <a:r>
              <a:rPr lang="en-US" dirty="0">
                <a:solidFill>
                  <a:schemeClr val="tx1"/>
                </a:solidFill>
              </a:rPr>
              <a:t>#THEKAMALNAIN</a:t>
            </a:r>
          </a:p>
          <a:p>
            <a:r>
              <a:rPr lang="en-US" dirty="0">
                <a:solidFill>
                  <a:schemeClr val="tx1"/>
                </a:solidFill>
              </a:rPr>
              <a:t>@THEKAMALNAIN</a:t>
            </a:r>
          </a:p>
          <a:p>
            <a:endParaRPr lang="en-US" dirty="0">
              <a:solidFill>
                <a:schemeClr val="tx1"/>
              </a:solidFill>
            </a:endParaRPr>
          </a:p>
        </p:txBody>
      </p:sp>
    </p:spTree>
    <p:extLst>
      <p:ext uri="{BB962C8B-B14F-4D97-AF65-F5344CB8AC3E}">
        <p14:creationId xmlns:p14="http://schemas.microsoft.com/office/powerpoint/2010/main" val="3078328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780B-F875-45A7-940E-14FC4D89181D}"/>
              </a:ext>
            </a:extLst>
          </p:cNvPr>
          <p:cNvSpPr>
            <a:spLocks noGrp="1"/>
          </p:cNvSpPr>
          <p:nvPr>
            <p:ph type="title"/>
          </p:nvPr>
        </p:nvSpPr>
        <p:spPr/>
        <p:txBody>
          <a:bodyPr>
            <a:normAutofit/>
          </a:bodyPr>
          <a:lstStyle/>
          <a:p>
            <a:r>
              <a:rPr lang="en-US" b="0" i="0" dirty="0">
                <a:solidFill>
                  <a:srgbClr val="610B38"/>
                </a:solidFill>
                <a:effectLst/>
                <a:latin typeface="erdana"/>
              </a:rPr>
              <a:t>What is Java</a:t>
            </a:r>
            <a:endParaRPr lang="en-US" dirty="0"/>
          </a:p>
        </p:txBody>
      </p:sp>
      <p:sp>
        <p:nvSpPr>
          <p:cNvPr id="3" name="Content Placeholder 2">
            <a:extLst>
              <a:ext uri="{FF2B5EF4-FFF2-40B4-BE49-F238E27FC236}">
                <a16:creationId xmlns:a16="http://schemas.microsoft.com/office/drawing/2014/main" id="{EE2C63A9-30EF-4C18-BA7D-97B5F45DB361}"/>
              </a:ext>
            </a:extLst>
          </p:cNvPr>
          <p:cNvSpPr>
            <a:spLocks noGrp="1"/>
          </p:cNvSpPr>
          <p:nvPr>
            <p:ph idx="1"/>
          </p:nvPr>
        </p:nvSpPr>
        <p:spPr/>
        <p:txBody>
          <a:bodyPr>
            <a:normAutofit/>
          </a:bodyPr>
          <a:lstStyle/>
          <a:p>
            <a:pPr marL="0" indent="0">
              <a:buNone/>
            </a:pPr>
            <a:r>
              <a:rPr lang="en-US" sz="2400" b="0" i="0" dirty="0">
                <a:solidFill>
                  <a:srgbClr val="000000"/>
                </a:solidFill>
                <a:effectLst/>
                <a:latin typeface="verdana" panose="020B0604030504040204" pitchFamily="34" charset="0"/>
              </a:rPr>
              <a:t>Java is a </a:t>
            </a:r>
            <a:r>
              <a:rPr lang="en-US" sz="2400" b="1" i="0" dirty="0">
                <a:effectLst/>
                <a:latin typeface="verdana" panose="020B0604030504040204" pitchFamily="34" charset="0"/>
              </a:rPr>
              <a:t>programming language</a:t>
            </a:r>
            <a:r>
              <a:rPr lang="en-US" sz="2400" b="0" i="0" dirty="0">
                <a:solidFill>
                  <a:srgbClr val="000000"/>
                </a:solidFill>
                <a:effectLst/>
                <a:latin typeface="verdana" panose="020B0604030504040204" pitchFamily="34" charset="0"/>
              </a:rPr>
              <a:t> and Java is a </a:t>
            </a:r>
            <a:r>
              <a:rPr lang="en-US" sz="2400" b="1" i="0" dirty="0">
                <a:effectLst/>
                <a:latin typeface="verdana" panose="020B0604030504040204" pitchFamily="34" charset="0"/>
              </a:rPr>
              <a:t>platform</a:t>
            </a:r>
            <a:r>
              <a:rPr lang="en-US" sz="2400" b="0" i="0" dirty="0">
                <a:solidFill>
                  <a:srgbClr val="000000"/>
                </a:solidFill>
                <a:effectLst/>
                <a:latin typeface="verdana" panose="020B0604030504040204" pitchFamily="34" charset="0"/>
              </a:rPr>
              <a:t>.</a:t>
            </a:r>
          </a:p>
          <a:p>
            <a:pPr marL="0" indent="0">
              <a:buNone/>
            </a:pPr>
            <a:r>
              <a:rPr lang="en-US" sz="2400" b="0" i="0" dirty="0">
                <a:solidFill>
                  <a:srgbClr val="000000"/>
                </a:solidFill>
                <a:effectLst/>
                <a:latin typeface="verdana" panose="020B0604030504040204" pitchFamily="34" charset="0"/>
              </a:rPr>
              <a:t>Java is a high level,</a:t>
            </a:r>
          </a:p>
          <a:p>
            <a:pPr marL="0" indent="0">
              <a:buNone/>
            </a:pPr>
            <a:r>
              <a:rPr lang="en-US" sz="2400" b="0" i="0" dirty="0">
                <a:solidFill>
                  <a:srgbClr val="000000"/>
                </a:solidFill>
                <a:effectLst/>
                <a:latin typeface="verdana" panose="020B0604030504040204" pitchFamily="34" charset="0"/>
              </a:rPr>
              <a:t>object-oriented, </a:t>
            </a:r>
          </a:p>
          <a:p>
            <a:pPr marL="0" indent="0">
              <a:buNone/>
            </a:pPr>
            <a:r>
              <a:rPr lang="en-US" sz="2400" b="0" i="0" dirty="0">
                <a:solidFill>
                  <a:srgbClr val="000000"/>
                </a:solidFill>
                <a:effectLst/>
                <a:latin typeface="verdana" panose="020B0604030504040204" pitchFamily="34" charset="0"/>
              </a:rPr>
              <a:t>N</a:t>
            </a:r>
          </a:p>
          <a:p>
            <a:pPr marL="0" indent="0">
              <a:buNone/>
            </a:pPr>
            <a:r>
              <a:rPr lang="en-US" sz="2400" b="0" i="0" dirty="0">
                <a:solidFill>
                  <a:srgbClr val="000000"/>
                </a:solidFill>
                <a:effectLst/>
                <a:latin typeface="verdana" panose="020B0604030504040204" pitchFamily="34" charset="0"/>
              </a:rPr>
              <a:t>secure programming language.</a:t>
            </a:r>
            <a:endParaRPr lang="en-US" sz="2400" dirty="0"/>
          </a:p>
        </p:txBody>
      </p:sp>
    </p:spTree>
    <p:extLst>
      <p:ext uri="{BB962C8B-B14F-4D97-AF65-F5344CB8AC3E}">
        <p14:creationId xmlns:p14="http://schemas.microsoft.com/office/powerpoint/2010/main" val="542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CBCE5-1563-4C19-A201-2816A444C802}"/>
              </a:ext>
            </a:extLst>
          </p:cNvPr>
          <p:cNvSpPr>
            <a:spLocks noGrp="1"/>
          </p:cNvSpPr>
          <p:nvPr>
            <p:ph type="title"/>
          </p:nvPr>
        </p:nvSpPr>
        <p:spPr/>
        <p:txBody>
          <a:bodyPr/>
          <a:lstStyle/>
          <a:p>
            <a:r>
              <a:rPr lang="en-US" dirty="0"/>
              <a:t>History of Java</a:t>
            </a:r>
          </a:p>
        </p:txBody>
      </p:sp>
      <p:sp>
        <p:nvSpPr>
          <p:cNvPr id="3" name="Content Placeholder 2">
            <a:extLst>
              <a:ext uri="{FF2B5EF4-FFF2-40B4-BE49-F238E27FC236}">
                <a16:creationId xmlns:a16="http://schemas.microsoft.com/office/drawing/2014/main" id="{C80D253F-81F8-40CF-A747-E3BEAA1D2F60}"/>
              </a:ext>
            </a:extLst>
          </p:cNvPr>
          <p:cNvSpPr>
            <a:spLocks noGrp="1"/>
          </p:cNvSpPr>
          <p:nvPr>
            <p:ph sz="half" idx="1"/>
          </p:nvPr>
        </p:nvSpPr>
        <p:spPr/>
        <p:txBody>
          <a:bodyPr>
            <a:normAutofit fontScale="77500" lnSpcReduction="20000"/>
          </a:bodyPr>
          <a:lstStyle/>
          <a:p>
            <a:pPr marL="0" indent="0">
              <a:buNone/>
            </a:pPr>
            <a:r>
              <a:rPr lang="en-US" b="0" i="0" dirty="0">
                <a:solidFill>
                  <a:srgbClr val="000000"/>
                </a:solidFill>
                <a:effectLst/>
                <a:latin typeface="verdana" panose="020B0604030504040204" pitchFamily="34" charset="0"/>
              </a:rPr>
              <a:t>Java was developed by </a:t>
            </a:r>
            <a:r>
              <a:rPr lang="en-US" b="0" i="1" dirty="0">
                <a:solidFill>
                  <a:srgbClr val="000000"/>
                </a:solidFill>
                <a:effectLst/>
                <a:latin typeface="verdana" panose="020B0604030504040204" pitchFamily="34" charset="0"/>
              </a:rPr>
              <a:t>Sun Microsystems</a:t>
            </a:r>
            <a:r>
              <a:rPr lang="en-US" b="0" i="0" dirty="0">
                <a:solidFill>
                  <a:srgbClr val="000000"/>
                </a:solidFill>
                <a:effectLst/>
                <a:latin typeface="verdana" panose="020B0604030504040204" pitchFamily="34" charset="0"/>
              </a:rPr>
              <a:t> (which is now the subsidiary of Oracle) in the year 1995. </a:t>
            </a:r>
          </a:p>
          <a:p>
            <a:pPr marL="0" indent="0">
              <a:buNone/>
            </a:pPr>
            <a:endParaRPr lang="en-US" b="0" i="0" dirty="0">
              <a:solidFill>
                <a:srgbClr val="000000"/>
              </a:solidFill>
              <a:effectLst/>
              <a:latin typeface="verdana" panose="020B0604030504040204" pitchFamily="34" charset="0"/>
            </a:endParaRPr>
          </a:p>
          <a:p>
            <a:pPr marL="0" indent="0">
              <a:buNone/>
            </a:pPr>
            <a:r>
              <a:rPr lang="en-US" b="0" i="0" dirty="0">
                <a:solidFill>
                  <a:srgbClr val="000000"/>
                </a:solidFill>
                <a:effectLst/>
                <a:latin typeface="verdana" panose="020B0604030504040204" pitchFamily="34" charset="0"/>
              </a:rPr>
              <a:t>Before Java, its name was </a:t>
            </a:r>
            <a:r>
              <a:rPr lang="en-US" b="0" i="1" dirty="0">
                <a:solidFill>
                  <a:srgbClr val="000000"/>
                </a:solidFill>
                <a:effectLst/>
                <a:latin typeface="verdana" panose="020B0604030504040204" pitchFamily="34" charset="0"/>
              </a:rPr>
              <a:t>Oak</a:t>
            </a:r>
            <a:r>
              <a:rPr lang="en-US" b="0" i="0" dirty="0">
                <a:solidFill>
                  <a:srgbClr val="000000"/>
                </a:solidFill>
                <a:effectLst/>
                <a:latin typeface="verdana" panose="020B0604030504040204" pitchFamily="34" charset="0"/>
              </a:rPr>
              <a:t>.</a:t>
            </a:r>
          </a:p>
          <a:p>
            <a:pPr marL="0" indent="0">
              <a:buNone/>
            </a:pPr>
            <a:r>
              <a:rPr lang="en-US" b="0" i="0" dirty="0">
                <a:solidFill>
                  <a:srgbClr val="000000"/>
                </a:solidFill>
                <a:effectLst/>
                <a:latin typeface="verdana" panose="020B0604030504040204" pitchFamily="34" charset="0"/>
              </a:rPr>
              <a:t>Since Oak was already a registered company, so James Gosling and his team changed the Oak name to Java.</a:t>
            </a:r>
          </a:p>
          <a:p>
            <a:pPr marL="0" indent="0">
              <a:buNone/>
            </a:pPr>
            <a:endParaRPr lang="en-US" b="0" i="0" dirty="0">
              <a:solidFill>
                <a:srgbClr val="000000"/>
              </a:solidFill>
              <a:effectLst/>
              <a:latin typeface="verdana" panose="020B0604030504040204" pitchFamily="34" charset="0"/>
            </a:endParaRPr>
          </a:p>
          <a:p>
            <a:pPr marL="0" indent="0">
              <a:buNone/>
            </a:pPr>
            <a:endParaRPr lang="en-US" b="0" i="0" dirty="0">
              <a:solidFill>
                <a:srgbClr val="000000"/>
              </a:solidFill>
              <a:effectLst/>
              <a:latin typeface="verdana" panose="020B0604030504040204" pitchFamily="34" charset="0"/>
            </a:endParaRPr>
          </a:p>
          <a:p>
            <a:pPr marL="0" indent="0">
              <a:buNone/>
            </a:pPr>
            <a:r>
              <a:rPr lang="en-US" b="0" i="1" dirty="0">
                <a:solidFill>
                  <a:srgbClr val="000000"/>
                </a:solidFill>
                <a:effectLst/>
                <a:latin typeface="verdana" panose="020B0604030504040204" pitchFamily="34" charset="0"/>
              </a:rPr>
              <a:t>James Gosling</a:t>
            </a:r>
            <a:r>
              <a:rPr lang="en-US" b="0" i="0" dirty="0">
                <a:solidFill>
                  <a:srgbClr val="000000"/>
                </a:solidFill>
                <a:effectLst/>
                <a:latin typeface="verdana" panose="020B0604030504040204" pitchFamily="34" charset="0"/>
              </a:rPr>
              <a:t> is known as the father of Java. </a:t>
            </a:r>
          </a:p>
          <a:p>
            <a:pPr marL="0" indent="0">
              <a:buNone/>
            </a:pPr>
            <a:endParaRPr lang="en-US" dirty="0"/>
          </a:p>
        </p:txBody>
      </p:sp>
      <p:sp>
        <p:nvSpPr>
          <p:cNvPr id="4" name="Content Placeholder 3">
            <a:extLst>
              <a:ext uri="{FF2B5EF4-FFF2-40B4-BE49-F238E27FC236}">
                <a16:creationId xmlns:a16="http://schemas.microsoft.com/office/drawing/2014/main" id="{811C0AC2-44AE-4380-BA7D-781CCE671E9B}"/>
              </a:ext>
            </a:extLst>
          </p:cNvPr>
          <p:cNvSpPr>
            <a:spLocks noGrp="1"/>
          </p:cNvSpPr>
          <p:nvPr>
            <p:ph sz="half" idx="2"/>
          </p:nvPr>
        </p:nvSpPr>
        <p:spPr/>
        <p:txBody>
          <a:bodyPr>
            <a:normAutofit fontScale="77500" lnSpcReduction="20000"/>
          </a:bodyPr>
          <a:lstStyle/>
          <a:p>
            <a:pPr algn="l">
              <a:buFont typeface="+mj-lt"/>
              <a:buAutoNum type="arabicPeriod"/>
            </a:pPr>
            <a:r>
              <a:rPr lang="en-US" b="0" i="0" dirty="0">
                <a:solidFill>
                  <a:srgbClr val="000000"/>
                </a:solidFill>
                <a:effectLst/>
                <a:latin typeface="verdana" panose="020B0604030504040204" pitchFamily="34" charset="0"/>
              </a:rPr>
              <a:t>JDK Alpha and Beta (1995)</a:t>
            </a:r>
          </a:p>
          <a:p>
            <a:pPr algn="l">
              <a:buFont typeface="+mj-lt"/>
              <a:buAutoNum type="arabicPeriod"/>
            </a:pPr>
            <a:r>
              <a:rPr lang="en-US" b="0" i="0" dirty="0">
                <a:solidFill>
                  <a:srgbClr val="000000"/>
                </a:solidFill>
                <a:effectLst/>
                <a:latin typeface="verdana" panose="020B0604030504040204" pitchFamily="34" charset="0"/>
              </a:rPr>
              <a:t>JDK 1.0 (23rd Jan 1996)</a:t>
            </a:r>
          </a:p>
          <a:p>
            <a:pPr algn="l">
              <a:buFont typeface="+mj-lt"/>
              <a:buAutoNum type="arabicPeriod"/>
            </a:pPr>
            <a:r>
              <a:rPr lang="en-US" b="0" i="0" dirty="0">
                <a:solidFill>
                  <a:srgbClr val="000000"/>
                </a:solidFill>
                <a:effectLst/>
                <a:latin typeface="verdana" panose="020B0604030504040204" pitchFamily="34" charset="0"/>
              </a:rPr>
              <a:t>JDK 1.1 (19th Feb 1997)</a:t>
            </a:r>
          </a:p>
          <a:p>
            <a:pPr algn="l">
              <a:buFont typeface="+mj-lt"/>
              <a:buAutoNum type="arabicPeriod"/>
            </a:pPr>
            <a:r>
              <a:rPr lang="en-US" b="0" i="0" dirty="0">
                <a:solidFill>
                  <a:srgbClr val="000000"/>
                </a:solidFill>
                <a:effectLst/>
                <a:latin typeface="verdana" panose="020B0604030504040204" pitchFamily="34" charset="0"/>
              </a:rPr>
              <a:t>J2SE 1.2 (8th Dec 1998)</a:t>
            </a:r>
          </a:p>
          <a:p>
            <a:pPr algn="l">
              <a:buFont typeface="+mj-lt"/>
              <a:buAutoNum type="arabicPeriod"/>
            </a:pPr>
            <a:r>
              <a:rPr lang="en-US" b="0" i="0" dirty="0">
                <a:solidFill>
                  <a:srgbClr val="000000"/>
                </a:solidFill>
                <a:effectLst/>
                <a:latin typeface="verdana" panose="020B0604030504040204" pitchFamily="34" charset="0"/>
              </a:rPr>
              <a:t>J2SE 1.3 (8th May 2000)</a:t>
            </a:r>
          </a:p>
          <a:p>
            <a:pPr algn="l">
              <a:buFont typeface="+mj-lt"/>
              <a:buAutoNum type="arabicPeriod"/>
            </a:pPr>
            <a:r>
              <a:rPr lang="en-US" b="0" i="0" dirty="0">
                <a:solidFill>
                  <a:srgbClr val="000000"/>
                </a:solidFill>
                <a:effectLst/>
                <a:latin typeface="verdana" panose="020B0604030504040204" pitchFamily="34" charset="0"/>
              </a:rPr>
              <a:t>J2SE 1.4 (6th Feb 2002)</a:t>
            </a:r>
          </a:p>
          <a:p>
            <a:pPr algn="l">
              <a:buFont typeface="+mj-lt"/>
              <a:buAutoNum type="arabicPeriod"/>
            </a:pPr>
            <a:r>
              <a:rPr lang="en-US" b="0" i="0" dirty="0">
                <a:solidFill>
                  <a:srgbClr val="000000"/>
                </a:solidFill>
                <a:effectLst/>
                <a:latin typeface="verdana" panose="020B0604030504040204" pitchFamily="34" charset="0"/>
              </a:rPr>
              <a:t>J2SE 5.0 (30th Sep 2004)</a:t>
            </a:r>
          </a:p>
          <a:p>
            <a:pPr algn="l">
              <a:buFont typeface="+mj-lt"/>
              <a:buAutoNum type="arabicPeriod"/>
            </a:pPr>
            <a:r>
              <a:rPr lang="en-US" b="0" i="0" dirty="0">
                <a:solidFill>
                  <a:srgbClr val="000000"/>
                </a:solidFill>
                <a:effectLst/>
                <a:latin typeface="verdana" panose="020B0604030504040204" pitchFamily="34" charset="0"/>
              </a:rPr>
              <a:t>Java SE 6 (11th Dec 2006)</a:t>
            </a:r>
          </a:p>
          <a:p>
            <a:pPr algn="l">
              <a:buFont typeface="+mj-lt"/>
              <a:buAutoNum type="arabicPeriod"/>
            </a:pPr>
            <a:r>
              <a:rPr lang="en-US" b="0" i="0" dirty="0">
                <a:solidFill>
                  <a:srgbClr val="000000"/>
                </a:solidFill>
                <a:effectLst/>
                <a:latin typeface="verdana" panose="020B0604030504040204" pitchFamily="34" charset="0"/>
              </a:rPr>
              <a:t>Java SE 7 (28th July 2011)</a:t>
            </a:r>
          </a:p>
          <a:p>
            <a:pPr algn="l">
              <a:buFont typeface="+mj-lt"/>
              <a:buAutoNum type="arabicPeriod"/>
            </a:pPr>
            <a:r>
              <a:rPr lang="en-US" b="0" i="0" dirty="0">
                <a:solidFill>
                  <a:srgbClr val="000000"/>
                </a:solidFill>
                <a:effectLst/>
                <a:latin typeface="verdana" panose="020B0604030504040204" pitchFamily="34" charset="0"/>
              </a:rPr>
              <a:t>Java SE 8 (18th Mar 2014)</a:t>
            </a:r>
          </a:p>
          <a:p>
            <a:pPr algn="l">
              <a:buFont typeface="+mj-lt"/>
              <a:buAutoNum type="arabicPeriod"/>
            </a:pPr>
            <a:r>
              <a:rPr lang="en-US" b="0" i="0" dirty="0">
                <a:solidFill>
                  <a:srgbClr val="000000"/>
                </a:solidFill>
                <a:effectLst/>
                <a:latin typeface="verdana" panose="020B0604030504040204" pitchFamily="34" charset="0"/>
              </a:rPr>
              <a:t>Java SE 9 (21st Sep 2017)</a:t>
            </a:r>
          </a:p>
          <a:p>
            <a:pPr algn="l">
              <a:buFont typeface="+mj-lt"/>
              <a:buAutoNum type="arabicPeriod"/>
            </a:pPr>
            <a:r>
              <a:rPr lang="en-US" b="0" i="0" dirty="0">
                <a:solidFill>
                  <a:srgbClr val="000000"/>
                </a:solidFill>
                <a:effectLst/>
                <a:latin typeface="verdana" panose="020B0604030504040204" pitchFamily="34" charset="0"/>
              </a:rPr>
              <a:t>Java SE 10 (20th Mar 2018)</a:t>
            </a:r>
          </a:p>
        </p:txBody>
      </p:sp>
    </p:spTree>
    <p:extLst>
      <p:ext uri="{BB962C8B-B14F-4D97-AF65-F5344CB8AC3E}">
        <p14:creationId xmlns:p14="http://schemas.microsoft.com/office/powerpoint/2010/main" val="2181040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B055-9D93-4A62-9A3D-87D72EFEF29F}"/>
              </a:ext>
            </a:extLst>
          </p:cNvPr>
          <p:cNvSpPr>
            <a:spLocks noGrp="1"/>
          </p:cNvSpPr>
          <p:nvPr>
            <p:ph type="title"/>
          </p:nvPr>
        </p:nvSpPr>
        <p:spPr/>
        <p:txBody>
          <a:bodyPr>
            <a:normAutofit/>
          </a:bodyPr>
          <a:lstStyle/>
          <a:p>
            <a:r>
              <a:rPr lang="en-US" b="0" i="0" dirty="0">
                <a:solidFill>
                  <a:srgbClr val="610B38"/>
                </a:solidFill>
                <a:effectLst/>
                <a:latin typeface="erdana"/>
              </a:rPr>
              <a:t>Java Platforms / Editions</a:t>
            </a:r>
            <a:endParaRPr lang="en-US" dirty="0"/>
          </a:p>
        </p:txBody>
      </p:sp>
      <p:sp>
        <p:nvSpPr>
          <p:cNvPr id="3" name="Content Placeholder 2">
            <a:extLst>
              <a:ext uri="{FF2B5EF4-FFF2-40B4-BE49-F238E27FC236}">
                <a16:creationId xmlns:a16="http://schemas.microsoft.com/office/drawing/2014/main" id="{6EC82998-9CCB-487A-96D2-5888B93979DA}"/>
              </a:ext>
            </a:extLst>
          </p:cNvPr>
          <p:cNvSpPr>
            <a:spLocks noGrp="1"/>
          </p:cNvSpPr>
          <p:nvPr>
            <p:ph idx="1"/>
          </p:nvPr>
        </p:nvSpPr>
        <p:spPr/>
        <p:txBody>
          <a:bodyPr/>
          <a:lstStyle/>
          <a:p>
            <a:r>
              <a:rPr lang="fr-FR" b="0" i="0" dirty="0">
                <a:solidFill>
                  <a:srgbClr val="610B4B"/>
                </a:solidFill>
                <a:effectLst/>
                <a:latin typeface="erdana"/>
              </a:rPr>
              <a:t>1) Java SE (Java Standard Edition)</a:t>
            </a:r>
          </a:p>
          <a:p>
            <a:r>
              <a:rPr lang="en-US" b="0" i="0" dirty="0">
                <a:solidFill>
                  <a:srgbClr val="610B4B"/>
                </a:solidFill>
                <a:effectLst/>
                <a:latin typeface="erdana"/>
              </a:rPr>
              <a:t>2) Java EE (Java Enterprise Edition)</a:t>
            </a:r>
          </a:p>
          <a:p>
            <a:r>
              <a:rPr lang="en-US" b="0" i="0" dirty="0">
                <a:solidFill>
                  <a:srgbClr val="610B4B"/>
                </a:solidFill>
                <a:effectLst/>
                <a:latin typeface="erdana"/>
              </a:rPr>
              <a:t>3) Java ME (Java Micro Edition)</a:t>
            </a:r>
          </a:p>
          <a:p>
            <a:r>
              <a:rPr lang="en-US" b="0" i="0" dirty="0">
                <a:solidFill>
                  <a:srgbClr val="610B4B"/>
                </a:solidFill>
                <a:effectLst/>
                <a:latin typeface="erdana"/>
              </a:rPr>
              <a:t>4) JavaFX</a:t>
            </a:r>
          </a:p>
          <a:p>
            <a:endParaRPr lang="en-US" dirty="0"/>
          </a:p>
        </p:txBody>
      </p:sp>
    </p:spTree>
    <p:extLst>
      <p:ext uri="{BB962C8B-B14F-4D97-AF65-F5344CB8AC3E}">
        <p14:creationId xmlns:p14="http://schemas.microsoft.com/office/powerpoint/2010/main" val="2319391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2BCE-8C0D-486F-BB05-9CF2A283DA83}"/>
              </a:ext>
            </a:extLst>
          </p:cNvPr>
          <p:cNvSpPr>
            <a:spLocks noGrp="1"/>
          </p:cNvSpPr>
          <p:nvPr>
            <p:ph type="title"/>
          </p:nvPr>
        </p:nvSpPr>
        <p:spPr/>
        <p:txBody>
          <a:bodyPr>
            <a:normAutofit/>
          </a:bodyPr>
          <a:lstStyle/>
          <a:p>
            <a:r>
              <a:rPr lang="en-US" b="0" i="0" dirty="0">
                <a:solidFill>
                  <a:srgbClr val="610B38"/>
                </a:solidFill>
                <a:effectLst/>
                <a:latin typeface="erdana"/>
              </a:rPr>
              <a:t>Application by JAVA</a:t>
            </a:r>
            <a:endParaRPr lang="en-US" dirty="0"/>
          </a:p>
        </p:txBody>
      </p:sp>
      <p:sp>
        <p:nvSpPr>
          <p:cNvPr id="3" name="Content Placeholder 2">
            <a:extLst>
              <a:ext uri="{FF2B5EF4-FFF2-40B4-BE49-F238E27FC236}">
                <a16:creationId xmlns:a16="http://schemas.microsoft.com/office/drawing/2014/main" id="{56F505A0-113A-4528-B368-2D3D35D826A2}"/>
              </a:ext>
            </a:extLst>
          </p:cNvPr>
          <p:cNvSpPr>
            <a:spLocks noGrp="1"/>
          </p:cNvSpPr>
          <p:nvPr>
            <p:ph idx="1"/>
          </p:nvPr>
        </p:nvSpPr>
        <p:spPr/>
        <p:txBody>
          <a:bodyPr/>
          <a:lstStyle/>
          <a:p>
            <a:pPr algn="l">
              <a:buFont typeface="+mj-lt"/>
              <a:buAutoNum type="arabicPeriod"/>
            </a:pPr>
            <a:r>
              <a:rPr lang="en-US" b="0" i="0" dirty="0">
                <a:solidFill>
                  <a:srgbClr val="000000"/>
                </a:solidFill>
                <a:effectLst/>
                <a:latin typeface="verdana" panose="020B0604030504040204" pitchFamily="34" charset="0"/>
              </a:rPr>
              <a:t>Desktop Applications such as acrobat reader, media player, antivirus, etc.</a:t>
            </a:r>
          </a:p>
          <a:p>
            <a:pPr algn="l">
              <a:buFont typeface="+mj-lt"/>
              <a:buAutoNum type="arabicPeriod"/>
            </a:pPr>
            <a:r>
              <a:rPr lang="en-US" b="0" i="0" dirty="0">
                <a:solidFill>
                  <a:srgbClr val="000000"/>
                </a:solidFill>
                <a:effectLst/>
                <a:latin typeface="verdana" panose="020B0604030504040204" pitchFamily="34" charset="0"/>
              </a:rPr>
              <a:t>Web Applications such as irctc.co</a:t>
            </a:r>
            <a:r>
              <a:rPr lang="en-US" b="0" i="0">
                <a:solidFill>
                  <a:srgbClr val="000000"/>
                </a:solidFill>
                <a:effectLst/>
                <a:latin typeface="verdana" panose="020B0604030504040204" pitchFamily="34" charset="0"/>
              </a:rPr>
              <a:t>.in.</a:t>
            </a:r>
            <a:endParaRPr lang="en-US" b="0" i="0" dirty="0">
              <a:solidFill>
                <a:srgbClr val="000000"/>
              </a:solidFill>
              <a:effectLst/>
              <a:latin typeface="verdana" panose="020B0604030504040204" pitchFamily="34" charset="0"/>
            </a:endParaRPr>
          </a:p>
          <a:p>
            <a:pPr algn="l">
              <a:buFont typeface="+mj-lt"/>
              <a:buAutoNum type="arabicPeriod"/>
            </a:pPr>
            <a:r>
              <a:rPr lang="en-US" b="0" i="0" dirty="0">
                <a:solidFill>
                  <a:srgbClr val="000000"/>
                </a:solidFill>
                <a:effectLst/>
                <a:latin typeface="verdana" panose="020B0604030504040204" pitchFamily="34" charset="0"/>
              </a:rPr>
              <a:t>Enterprise Applications such as banking applications.</a:t>
            </a:r>
          </a:p>
          <a:p>
            <a:pPr algn="l">
              <a:buFont typeface="+mj-lt"/>
              <a:buAutoNum type="arabicPeriod"/>
            </a:pPr>
            <a:r>
              <a:rPr lang="en-US" b="0" i="0" dirty="0">
                <a:solidFill>
                  <a:srgbClr val="000000"/>
                </a:solidFill>
                <a:effectLst/>
                <a:latin typeface="verdana" panose="020B0604030504040204" pitchFamily="34" charset="0"/>
              </a:rPr>
              <a:t>Mobile</a:t>
            </a:r>
          </a:p>
          <a:p>
            <a:pPr algn="l">
              <a:buFont typeface="+mj-lt"/>
              <a:buAutoNum type="arabicPeriod"/>
            </a:pPr>
            <a:r>
              <a:rPr lang="en-US" b="0" i="0" dirty="0">
                <a:solidFill>
                  <a:srgbClr val="000000"/>
                </a:solidFill>
                <a:effectLst/>
                <a:latin typeface="verdana" panose="020B0604030504040204" pitchFamily="34" charset="0"/>
              </a:rPr>
              <a:t>Embedded System</a:t>
            </a:r>
          </a:p>
          <a:p>
            <a:pPr algn="l">
              <a:buFont typeface="+mj-lt"/>
              <a:buAutoNum type="arabicPeriod"/>
            </a:pPr>
            <a:r>
              <a:rPr lang="en-US" b="0" i="0" dirty="0">
                <a:solidFill>
                  <a:srgbClr val="000000"/>
                </a:solidFill>
                <a:effectLst/>
                <a:latin typeface="verdana" panose="020B0604030504040204" pitchFamily="34" charset="0"/>
              </a:rPr>
              <a:t>Smart Card</a:t>
            </a:r>
          </a:p>
          <a:p>
            <a:pPr algn="l">
              <a:buFont typeface="+mj-lt"/>
              <a:buAutoNum type="arabicPeriod"/>
            </a:pPr>
            <a:r>
              <a:rPr lang="en-US" b="0" i="0" dirty="0">
                <a:solidFill>
                  <a:srgbClr val="000000"/>
                </a:solidFill>
                <a:effectLst/>
                <a:latin typeface="verdana" panose="020B0604030504040204" pitchFamily="34" charset="0"/>
              </a:rPr>
              <a:t>Robotics</a:t>
            </a:r>
          </a:p>
          <a:p>
            <a:pPr algn="l">
              <a:buFont typeface="+mj-lt"/>
              <a:buAutoNum type="arabicPeriod"/>
            </a:pPr>
            <a:r>
              <a:rPr lang="en-US" b="0" i="0" dirty="0">
                <a:solidFill>
                  <a:srgbClr val="000000"/>
                </a:solidFill>
                <a:effectLst/>
                <a:latin typeface="verdana" panose="020B0604030504040204" pitchFamily="34" charset="0"/>
              </a:rPr>
              <a:t>Games, etc.</a:t>
            </a:r>
          </a:p>
        </p:txBody>
      </p:sp>
    </p:spTree>
    <p:extLst>
      <p:ext uri="{BB962C8B-B14F-4D97-AF65-F5344CB8AC3E}">
        <p14:creationId xmlns:p14="http://schemas.microsoft.com/office/powerpoint/2010/main" val="295686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EBC24-64BE-472C-BE6F-886F4BAD30EE}"/>
              </a:ext>
            </a:extLst>
          </p:cNvPr>
          <p:cNvSpPr>
            <a:spLocks noGrp="1"/>
          </p:cNvSpPr>
          <p:nvPr>
            <p:ph type="title"/>
          </p:nvPr>
        </p:nvSpPr>
        <p:spPr/>
        <p:txBody>
          <a:bodyPr>
            <a:normAutofit/>
          </a:bodyPr>
          <a:lstStyle/>
          <a:p>
            <a:r>
              <a:rPr lang="en-US" b="0" i="0" dirty="0">
                <a:solidFill>
                  <a:srgbClr val="610B38"/>
                </a:solidFill>
                <a:effectLst/>
                <a:latin typeface="erdana"/>
              </a:rPr>
              <a:t>Types of Java Applications</a:t>
            </a:r>
            <a:endParaRPr lang="en-US" dirty="0"/>
          </a:p>
        </p:txBody>
      </p:sp>
      <p:sp>
        <p:nvSpPr>
          <p:cNvPr id="3" name="Content Placeholder 2">
            <a:extLst>
              <a:ext uri="{FF2B5EF4-FFF2-40B4-BE49-F238E27FC236}">
                <a16:creationId xmlns:a16="http://schemas.microsoft.com/office/drawing/2014/main" id="{EA9A2875-726F-4224-B2F3-B428EFFE3B93}"/>
              </a:ext>
            </a:extLst>
          </p:cNvPr>
          <p:cNvSpPr>
            <a:spLocks noGrp="1"/>
          </p:cNvSpPr>
          <p:nvPr>
            <p:ph idx="1"/>
          </p:nvPr>
        </p:nvSpPr>
        <p:spPr/>
        <p:txBody>
          <a:bodyPr/>
          <a:lstStyle/>
          <a:p>
            <a:r>
              <a:rPr lang="en-US" b="0" i="0" dirty="0">
                <a:solidFill>
                  <a:srgbClr val="610B4B"/>
                </a:solidFill>
                <a:effectLst/>
                <a:latin typeface="erdana"/>
              </a:rPr>
              <a:t>1) Standalone Application</a:t>
            </a:r>
          </a:p>
          <a:p>
            <a:r>
              <a:rPr lang="en-US" b="0" i="0" dirty="0">
                <a:solidFill>
                  <a:srgbClr val="610B4B"/>
                </a:solidFill>
                <a:effectLst/>
                <a:latin typeface="erdana"/>
              </a:rPr>
              <a:t>2) Web Application</a:t>
            </a:r>
          </a:p>
          <a:p>
            <a:r>
              <a:rPr lang="en-US" b="0" i="0" dirty="0">
                <a:solidFill>
                  <a:srgbClr val="610B4B"/>
                </a:solidFill>
                <a:effectLst/>
                <a:latin typeface="erdana"/>
              </a:rPr>
              <a:t>3) Enterprise Application</a:t>
            </a:r>
          </a:p>
          <a:p>
            <a:r>
              <a:rPr lang="en-US" b="0" i="0" dirty="0">
                <a:solidFill>
                  <a:srgbClr val="610B4B"/>
                </a:solidFill>
                <a:effectLst/>
                <a:latin typeface="erdana"/>
              </a:rPr>
              <a:t>4) Mobile Application</a:t>
            </a:r>
          </a:p>
          <a:p>
            <a:pPr marL="0" indent="0">
              <a:buNone/>
            </a:pPr>
            <a:endParaRPr lang="en-US" dirty="0"/>
          </a:p>
        </p:txBody>
      </p:sp>
    </p:spTree>
    <p:extLst>
      <p:ext uri="{BB962C8B-B14F-4D97-AF65-F5344CB8AC3E}">
        <p14:creationId xmlns:p14="http://schemas.microsoft.com/office/powerpoint/2010/main" val="2120772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9A21-6525-4039-A7BD-C659B1D4E14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0923BBE-F37B-41A2-B023-947370952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8652" y="380570"/>
            <a:ext cx="5996762" cy="6080717"/>
          </a:xfrm>
        </p:spPr>
      </p:pic>
    </p:spTree>
    <p:extLst>
      <p:ext uri="{BB962C8B-B14F-4D97-AF65-F5344CB8AC3E}">
        <p14:creationId xmlns:p14="http://schemas.microsoft.com/office/powerpoint/2010/main" val="334451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C88D45F-7CA4-4F5F-B4E0-3DE67A071CC9}"/>
              </a:ext>
            </a:extLst>
          </p:cNvPr>
          <p:cNvGraphicFramePr>
            <a:graphicFrameLocks noGrp="1"/>
          </p:cNvGraphicFramePr>
          <p:nvPr>
            <p:ph idx="1"/>
            <p:extLst>
              <p:ext uri="{D42A27DB-BD31-4B8C-83A1-F6EECF244321}">
                <p14:modId xmlns:p14="http://schemas.microsoft.com/office/powerpoint/2010/main" val="787511602"/>
              </p:ext>
            </p:extLst>
          </p:nvPr>
        </p:nvGraphicFramePr>
        <p:xfrm>
          <a:off x="520996" y="262903"/>
          <a:ext cx="10930269" cy="6265166"/>
        </p:xfrm>
        <a:graphic>
          <a:graphicData uri="http://schemas.openxmlformats.org/drawingml/2006/table">
            <a:tbl>
              <a:tblPr/>
              <a:tblGrid>
                <a:gridCol w="2190306">
                  <a:extLst>
                    <a:ext uri="{9D8B030D-6E8A-4147-A177-3AD203B41FA5}">
                      <a16:colId xmlns:a16="http://schemas.microsoft.com/office/drawing/2014/main" val="724034241"/>
                    </a:ext>
                  </a:extLst>
                </a:gridCol>
                <a:gridCol w="3434316">
                  <a:extLst>
                    <a:ext uri="{9D8B030D-6E8A-4147-A177-3AD203B41FA5}">
                      <a16:colId xmlns:a16="http://schemas.microsoft.com/office/drawing/2014/main" val="3876238494"/>
                    </a:ext>
                  </a:extLst>
                </a:gridCol>
                <a:gridCol w="5305647">
                  <a:extLst>
                    <a:ext uri="{9D8B030D-6E8A-4147-A177-3AD203B41FA5}">
                      <a16:colId xmlns:a16="http://schemas.microsoft.com/office/drawing/2014/main" val="3679056478"/>
                    </a:ext>
                  </a:extLst>
                </a:gridCol>
              </a:tblGrid>
              <a:tr h="270763">
                <a:tc>
                  <a:txBody>
                    <a:bodyPr/>
                    <a:lstStyle/>
                    <a:p>
                      <a:pPr algn="l" fontAlgn="t"/>
                      <a:r>
                        <a:rPr lang="en-US" sz="1600" dirty="0">
                          <a:solidFill>
                            <a:srgbClr val="000000"/>
                          </a:solidFill>
                          <a:effectLst/>
                          <a:latin typeface="times new roman" panose="02020603050405020304" pitchFamily="18" charset="0"/>
                        </a:rPr>
                        <a:t>Comparison Index</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times new roman" panose="02020603050405020304" pitchFamily="18" charset="0"/>
                        </a:rPr>
                        <a:t>C++</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times new roman" panose="02020603050405020304" pitchFamily="18" charset="0"/>
                        </a:rPr>
                        <a:t>Java</a:t>
                      </a:r>
                    </a:p>
                  </a:txBody>
                  <a:tcPr marL="15838" marR="15838" marT="15838" marB="15838">
                    <a:lnL w="9525" cap="flat" cmpd="sng" algn="ctr">
                      <a:solidFill>
                        <a:srgbClr val="980C6E"/>
                      </a:solidFill>
                      <a:prstDash val="solid"/>
                      <a:round/>
                      <a:headEnd type="none" w="med" len="med"/>
                      <a:tailEnd type="none" w="med" len="med"/>
                    </a:lnL>
                    <a:lnR w="9525" cap="flat" cmpd="sng" algn="ctr">
                      <a:solidFill>
                        <a:srgbClr val="980C6E"/>
                      </a:solidFill>
                      <a:prstDash val="solid"/>
                      <a:round/>
                      <a:headEnd type="none" w="med" len="med"/>
                      <a:tailEnd type="none" w="med" len="med"/>
                    </a:lnR>
                    <a:lnT w="9525" cap="flat" cmpd="sng" algn="ctr">
                      <a:solidFill>
                        <a:srgbClr val="980C6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744128234"/>
                  </a:ext>
                </a:extLst>
              </a:tr>
              <a:tr h="170525">
                <a:tc>
                  <a:txBody>
                    <a:bodyPr/>
                    <a:lstStyle/>
                    <a:p>
                      <a:pPr algn="l" fontAlgn="t"/>
                      <a:r>
                        <a:rPr lang="en-US" sz="1000" b="1" dirty="0">
                          <a:solidFill>
                            <a:srgbClr val="000000"/>
                          </a:solidFill>
                          <a:effectLst/>
                          <a:latin typeface="verdana" panose="020B0604030504040204" pitchFamily="34" charset="0"/>
                        </a:rPr>
                        <a:t>Platform-independent</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is platform-dependent.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is platform-independent.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90597021"/>
                  </a:ext>
                </a:extLst>
              </a:tr>
              <a:tr h="376730">
                <a:tc>
                  <a:txBody>
                    <a:bodyPr/>
                    <a:lstStyle/>
                    <a:p>
                      <a:pPr algn="l" fontAlgn="t"/>
                      <a:r>
                        <a:rPr lang="en-US" sz="1000" b="1" dirty="0">
                          <a:solidFill>
                            <a:srgbClr val="000000"/>
                          </a:solidFill>
                          <a:effectLst/>
                          <a:latin typeface="verdana" panose="020B0604030504040204" pitchFamily="34" charset="0"/>
                        </a:rPr>
                        <a:t>Mainly used for</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is mainly used for system programming.</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is mainly used for application programming. It is widely used in window, web-based, enterprise and mobile applications.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29843085"/>
                  </a:ext>
                </a:extLst>
              </a:tr>
              <a:tr h="606600">
                <a:tc>
                  <a:txBody>
                    <a:bodyPr/>
                    <a:lstStyle/>
                    <a:p>
                      <a:pPr algn="l" fontAlgn="t"/>
                      <a:r>
                        <a:rPr lang="en-US" sz="1000" b="1" dirty="0">
                          <a:solidFill>
                            <a:srgbClr val="000000"/>
                          </a:solidFill>
                          <a:effectLst/>
                          <a:latin typeface="verdana" panose="020B0604030504040204" pitchFamily="34" charset="0"/>
                        </a:rPr>
                        <a:t>Design Goal</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was designed for systems and applications programming. It was an extension of </a:t>
                      </a:r>
                      <a:r>
                        <a:rPr lang="en-US" sz="1000" u="none" strike="noStrike" dirty="0">
                          <a:solidFill>
                            <a:srgbClr val="008000"/>
                          </a:solidFill>
                          <a:effectLst/>
                          <a:latin typeface="verdana" panose="020B0604030504040204" pitchFamily="34" charset="0"/>
                        </a:rPr>
                        <a:t>C programming language</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was designed and created as an interpreter for printing systems but later extended as a support network computing. It was designed with a goal of being easy to use and accessible to a broader audience.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14733244"/>
                  </a:ext>
                </a:extLst>
              </a:tr>
              <a:tr h="170525">
                <a:tc>
                  <a:txBody>
                    <a:bodyPr/>
                    <a:lstStyle/>
                    <a:p>
                      <a:pPr algn="l" fontAlgn="t"/>
                      <a:r>
                        <a:rPr lang="en-US" sz="1000" b="1" dirty="0" err="1">
                          <a:solidFill>
                            <a:srgbClr val="000000"/>
                          </a:solidFill>
                          <a:effectLst/>
                          <a:latin typeface="verdana" panose="020B0604030504040204" pitchFamily="34" charset="0"/>
                        </a:rPr>
                        <a:t>Goto</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supports the </a:t>
                      </a:r>
                      <a:r>
                        <a:rPr lang="en-US" sz="1000" u="none" strike="noStrike" dirty="0" err="1">
                          <a:solidFill>
                            <a:srgbClr val="008000"/>
                          </a:solidFill>
                          <a:effectLst/>
                          <a:latin typeface="verdana" panose="020B0604030504040204" pitchFamily="34" charset="0"/>
                        </a:rPr>
                        <a:t>goto</a:t>
                      </a:r>
                      <a:r>
                        <a:rPr lang="en-US" sz="1000" dirty="0">
                          <a:solidFill>
                            <a:srgbClr val="000000"/>
                          </a:solidFill>
                          <a:effectLst/>
                          <a:latin typeface="verdana" panose="020B0604030504040204" pitchFamily="34" charset="0"/>
                        </a:rPr>
                        <a:t> statement.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the </a:t>
                      </a:r>
                      <a:r>
                        <a:rPr lang="en-US" sz="1000" dirty="0" err="1">
                          <a:solidFill>
                            <a:srgbClr val="000000"/>
                          </a:solidFill>
                          <a:effectLst/>
                          <a:latin typeface="verdana" panose="020B0604030504040204" pitchFamily="34" charset="0"/>
                        </a:rPr>
                        <a:t>goto</a:t>
                      </a:r>
                      <a:r>
                        <a:rPr lang="en-US" sz="1000" dirty="0">
                          <a:solidFill>
                            <a:srgbClr val="000000"/>
                          </a:solidFill>
                          <a:effectLst/>
                          <a:latin typeface="verdana" panose="020B0604030504040204" pitchFamily="34" charset="0"/>
                        </a:rPr>
                        <a:t> statement.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16434342"/>
                  </a:ext>
                </a:extLst>
              </a:tr>
              <a:tr h="320296">
                <a:tc>
                  <a:txBody>
                    <a:bodyPr/>
                    <a:lstStyle/>
                    <a:p>
                      <a:pPr algn="l" fontAlgn="t"/>
                      <a:r>
                        <a:rPr lang="en-US" sz="1000" b="1" dirty="0">
                          <a:solidFill>
                            <a:srgbClr val="000000"/>
                          </a:solidFill>
                          <a:effectLst/>
                          <a:latin typeface="verdana" panose="020B0604030504040204" pitchFamily="34" charset="0"/>
                        </a:rPr>
                        <a:t>Multiple inheritance</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multiple inheritance.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doesn't support multiple inheritance through class. It can be achieved by </a:t>
                      </a:r>
                      <a:r>
                        <a:rPr lang="en-US" sz="1000" u="none" strike="noStrike" dirty="0">
                          <a:solidFill>
                            <a:srgbClr val="008000"/>
                          </a:solidFill>
                          <a:effectLst/>
                          <a:latin typeface="verdana" panose="020B0604030504040204" pitchFamily="34" charset="0"/>
                        </a:rPr>
                        <a:t>interfaces in java</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221389743"/>
                  </a:ext>
                </a:extLst>
              </a:tr>
              <a:tr h="170525">
                <a:tc>
                  <a:txBody>
                    <a:bodyPr/>
                    <a:lstStyle/>
                    <a:p>
                      <a:pPr algn="l" fontAlgn="t"/>
                      <a:r>
                        <a:rPr lang="en-US" sz="1000" b="1" dirty="0">
                          <a:solidFill>
                            <a:srgbClr val="000000"/>
                          </a:solidFill>
                          <a:effectLst/>
                          <a:latin typeface="verdana" panose="020B0604030504040204" pitchFamily="34" charset="0"/>
                        </a:rPr>
                        <a:t>Operator Overloading</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C++ supports </a:t>
                      </a:r>
                      <a:r>
                        <a:rPr lang="en-US" sz="1000" u="none" strike="noStrike" dirty="0">
                          <a:solidFill>
                            <a:srgbClr val="008000"/>
                          </a:solidFill>
                          <a:effectLst/>
                          <a:latin typeface="verdana" panose="020B0604030504040204" pitchFamily="34" charset="0"/>
                        </a:rPr>
                        <a:t>operator overloading</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operator overloading.</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90219887"/>
                  </a:ext>
                </a:extLst>
              </a:tr>
              <a:tr h="376730">
                <a:tc>
                  <a:txBody>
                    <a:bodyPr/>
                    <a:lstStyle/>
                    <a:p>
                      <a:pPr algn="l" fontAlgn="t"/>
                      <a:r>
                        <a:rPr lang="en-US" sz="1000" b="1" dirty="0">
                          <a:solidFill>
                            <a:srgbClr val="000000"/>
                          </a:solidFill>
                          <a:effectLst/>
                          <a:latin typeface="verdana" panose="020B0604030504040204" pitchFamily="34" charset="0"/>
                        </a:rPr>
                        <a:t>Pointers</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supports </a:t>
                      </a:r>
                      <a:r>
                        <a:rPr lang="en-US" sz="1000" u="none" strike="noStrike" dirty="0">
                          <a:solidFill>
                            <a:srgbClr val="008000"/>
                          </a:solidFill>
                          <a:effectLst/>
                          <a:latin typeface="verdana" panose="020B0604030504040204" pitchFamily="34" charset="0"/>
                        </a:rPr>
                        <a:t>pointers</a:t>
                      </a:r>
                      <a:r>
                        <a:rPr lang="en-US" sz="1000" dirty="0">
                          <a:solidFill>
                            <a:srgbClr val="000000"/>
                          </a:solidFill>
                          <a:effectLst/>
                          <a:latin typeface="verdana" panose="020B0604030504040204" pitchFamily="34" charset="0"/>
                        </a:rPr>
                        <a:t>. You can write pointer program in C++.</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supports pointer internally. However, you can't write the pointer program in java. It means java has restricted pointer support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06088930"/>
                  </a:ext>
                </a:extLst>
              </a:tr>
              <a:tr h="606600">
                <a:tc>
                  <a:txBody>
                    <a:bodyPr/>
                    <a:lstStyle/>
                    <a:p>
                      <a:pPr algn="l" fontAlgn="t"/>
                      <a:r>
                        <a:rPr lang="en-US" sz="1000" b="1" dirty="0">
                          <a:solidFill>
                            <a:srgbClr val="000000"/>
                          </a:solidFill>
                          <a:effectLst/>
                          <a:latin typeface="verdana" panose="020B0604030504040204" pitchFamily="34" charset="0"/>
                        </a:rPr>
                        <a:t>Compiler and Interpreter</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uses compiler only. C++ is compiled and run using the compiler which converts source code into machine code so, C++ is platform 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uses compiler and interpreter both. Java source code is converted into bytecode at compilation time. The interpreter executes this bytecode at runtime and produces output. Java is interpreted that is why it is platform independent.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72748538"/>
                  </a:ext>
                </a:extLst>
              </a:tr>
              <a:tr h="320296">
                <a:tc>
                  <a:txBody>
                    <a:bodyPr/>
                    <a:lstStyle/>
                    <a:p>
                      <a:pPr algn="l" fontAlgn="t"/>
                      <a:r>
                        <a:rPr lang="en-US" sz="1000" b="1" dirty="0">
                          <a:solidFill>
                            <a:srgbClr val="000000"/>
                          </a:solidFill>
                          <a:effectLst/>
                          <a:latin typeface="verdana" panose="020B0604030504040204" pitchFamily="34" charset="0"/>
                        </a:rPr>
                        <a:t>Call by Value and Call by reference</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both call by value and call by reference.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supports call by value only. There is no call by reference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27037097"/>
                  </a:ext>
                </a:extLst>
              </a:tr>
              <a:tr h="170525">
                <a:tc>
                  <a:txBody>
                    <a:bodyPr/>
                    <a:lstStyle/>
                    <a:p>
                      <a:pPr algn="l" fontAlgn="t"/>
                      <a:r>
                        <a:rPr lang="en-US" sz="1000" b="1" dirty="0">
                          <a:solidFill>
                            <a:srgbClr val="000000"/>
                          </a:solidFill>
                          <a:effectLst/>
                          <a:latin typeface="verdana" panose="020B0604030504040204" pitchFamily="34" charset="0"/>
                        </a:rPr>
                        <a:t>Structure and Union</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supports structures and unions.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dirty="0">
                          <a:solidFill>
                            <a:srgbClr val="000000"/>
                          </a:solidFill>
                          <a:effectLst/>
                          <a:latin typeface="verdana" panose="020B0604030504040204" pitchFamily="34" charset="0"/>
                        </a:rPr>
                        <a:t>Java doesn't support structures and unions.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83924706"/>
                  </a:ext>
                </a:extLst>
              </a:tr>
              <a:tr h="320296">
                <a:tc>
                  <a:txBody>
                    <a:bodyPr/>
                    <a:lstStyle/>
                    <a:p>
                      <a:pPr algn="l" fontAlgn="t"/>
                      <a:r>
                        <a:rPr lang="en-US" sz="1000" b="1" dirty="0">
                          <a:solidFill>
                            <a:srgbClr val="000000"/>
                          </a:solidFill>
                          <a:effectLst/>
                          <a:latin typeface="verdana" panose="020B0604030504040204" pitchFamily="34" charset="0"/>
                        </a:rPr>
                        <a:t>Thread Support</a:t>
                      </a:r>
                      <a:endParaRPr lang="en-US" sz="1000" dirty="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C++ doesn't have built-in support for threads. It relies on third-party libraries for thread support.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has built-in </a:t>
                      </a:r>
                      <a:r>
                        <a:rPr lang="en-US" sz="1000" u="none" strike="noStrike" dirty="0">
                          <a:solidFill>
                            <a:srgbClr val="008000"/>
                          </a:solidFill>
                          <a:effectLst/>
                          <a:latin typeface="verdana" panose="020B0604030504040204" pitchFamily="34" charset="0"/>
                        </a:rPr>
                        <a:t>thread</a:t>
                      </a:r>
                      <a:r>
                        <a:rPr lang="en-US" sz="1000" dirty="0">
                          <a:solidFill>
                            <a:srgbClr val="000000"/>
                          </a:solidFill>
                          <a:effectLst/>
                          <a:latin typeface="verdana" panose="020B0604030504040204" pitchFamily="34" charset="0"/>
                        </a:rPr>
                        <a:t> support.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89170378"/>
                  </a:ext>
                </a:extLst>
              </a:tr>
              <a:tr h="320296">
                <a:tc>
                  <a:txBody>
                    <a:bodyPr/>
                    <a:lstStyle/>
                    <a:p>
                      <a:pPr algn="l" fontAlgn="t"/>
                      <a:r>
                        <a:rPr lang="en-US" sz="1000" b="1">
                          <a:solidFill>
                            <a:srgbClr val="000000"/>
                          </a:solidFill>
                          <a:effectLst/>
                          <a:latin typeface="verdana" panose="020B0604030504040204" pitchFamily="34" charset="0"/>
                        </a:rPr>
                        <a:t>Documentation comment</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doesn't support documentation comment.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fr-FR" sz="1000">
                          <a:solidFill>
                            <a:srgbClr val="000000"/>
                          </a:solidFill>
                          <a:effectLst/>
                          <a:latin typeface="verdana" panose="020B0604030504040204" pitchFamily="34" charset="0"/>
                        </a:rPr>
                        <a:t>Java supports documentation comment (/** ... */) to create documentation for java source code.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20880409"/>
                  </a:ext>
                </a:extLst>
              </a:tr>
              <a:tr h="376730">
                <a:tc>
                  <a:txBody>
                    <a:bodyPr/>
                    <a:lstStyle/>
                    <a:p>
                      <a:pPr algn="l" fontAlgn="t"/>
                      <a:r>
                        <a:rPr lang="en-US" sz="1000" b="1">
                          <a:solidFill>
                            <a:srgbClr val="000000"/>
                          </a:solidFill>
                          <a:effectLst/>
                          <a:latin typeface="verdana" panose="020B0604030504040204" pitchFamily="34" charset="0"/>
                        </a:rPr>
                        <a:t>Virtual Keyword</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supports virtual keyword so that we can decide whether or not override a function.</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Java has no virtual keyword. We can override all non-static methods by default. In other words, non-static methods are virtual by default.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11417113"/>
                  </a:ext>
                </a:extLst>
              </a:tr>
              <a:tr h="434199">
                <a:tc>
                  <a:txBody>
                    <a:bodyPr/>
                    <a:lstStyle/>
                    <a:p>
                      <a:pPr algn="l" fontAlgn="t"/>
                      <a:r>
                        <a:rPr lang="en-US" sz="1000" b="1">
                          <a:solidFill>
                            <a:srgbClr val="000000"/>
                          </a:solidFill>
                          <a:effectLst/>
                          <a:latin typeface="verdana" panose="020B0604030504040204" pitchFamily="34" charset="0"/>
                        </a:rPr>
                        <a:t>unsigned right shift &gt;&gt;&gt;</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doesn't support &gt;&gt;&gt; operator.</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Java supports unsigned right shift &gt;&gt;&gt; operator that fills zero at the top for the negative numbers. For positive numbers, it works same like &gt;&gt; operator.</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759205999"/>
                  </a:ext>
                </a:extLst>
              </a:tr>
              <a:tr h="491666">
                <a:tc>
                  <a:txBody>
                    <a:bodyPr/>
                    <a:lstStyle/>
                    <a:p>
                      <a:pPr algn="l" fontAlgn="t"/>
                      <a:r>
                        <a:rPr lang="en-US" sz="1000" b="1">
                          <a:solidFill>
                            <a:srgbClr val="000000"/>
                          </a:solidFill>
                          <a:effectLst/>
                          <a:latin typeface="verdana" panose="020B0604030504040204" pitchFamily="34" charset="0"/>
                        </a:rPr>
                        <a:t>Inheritance Tree</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creates a new inheritance tree always.</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uses a single inheritance tree always because all classes are the child of Object class in java. The object class is the root of the </a:t>
                      </a:r>
                      <a:r>
                        <a:rPr lang="en-US" sz="1000" u="none" strike="noStrike" dirty="0">
                          <a:solidFill>
                            <a:srgbClr val="008000"/>
                          </a:solidFill>
                          <a:effectLst/>
                          <a:latin typeface="verdana" panose="020B0604030504040204" pitchFamily="34" charset="0"/>
                        </a:rPr>
                        <a:t>inheritance</a:t>
                      </a:r>
                      <a:r>
                        <a:rPr lang="en-US" sz="1000" dirty="0">
                          <a:solidFill>
                            <a:srgbClr val="000000"/>
                          </a:solidFill>
                          <a:effectLst/>
                          <a:latin typeface="verdana" panose="020B0604030504040204" pitchFamily="34" charset="0"/>
                        </a:rPr>
                        <a:t> tree in java.</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138641969"/>
                  </a:ext>
                </a:extLst>
              </a:tr>
              <a:tr h="170525">
                <a:tc>
                  <a:txBody>
                    <a:bodyPr/>
                    <a:lstStyle/>
                    <a:p>
                      <a:pPr algn="l" fontAlgn="t"/>
                      <a:r>
                        <a:rPr lang="en-US" sz="1000" b="1">
                          <a:solidFill>
                            <a:srgbClr val="000000"/>
                          </a:solidFill>
                          <a:effectLst/>
                          <a:latin typeface="verdana" panose="020B0604030504040204" pitchFamily="34" charset="0"/>
                        </a:rPr>
                        <a:t>Hardware</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C++ is nearer to hardware.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000">
                          <a:solidFill>
                            <a:srgbClr val="000000"/>
                          </a:solidFill>
                          <a:effectLst/>
                          <a:latin typeface="verdana" panose="020B0604030504040204" pitchFamily="34" charset="0"/>
                        </a:rPr>
                        <a:t>Java is not so interactive with hardware.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36860808"/>
                  </a:ext>
                </a:extLst>
              </a:tr>
              <a:tr h="549133">
                <a:tc>
                  <a:txBody>
                    <a:bodyPr/>
                    <a:lstStyle/>
                    <a:p>
                      <a:pPr algn="l" fontAlgn="t"/>
                      <a:r>
                        <a:rPr lang="en-US" sz="1000" b="1">
                          <a:solidFill>
                            <a:srgbClr val="000000"/>
                          </a:solidFill>
                          <a:effectLst/>
                          <a:latin typeface="verdana" panose="020B0604030504040204" pitchFamily="34" charset="0"/>
                        </a:rPr>
                        <a:t>Object-oriented</a:t>
                      </a:r>
                      <a:endParaRPr lang="en-US" sz="1000">
                        <a:solidFill>
                          <a:srgbClr val="000000"/>
                        </a:solidFill>
                        <a:effectLst/>
                        <a:latin typeface="verdana" panose="020B0604030504040204" pitchFamily="34" charset="0"/>
                      </a:endParaRP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a:solidFill>
                            <a:srgbClr val="000000"/>
                          </a:solidFill>
                          <a:effectLst/>
                          <a:latin typeface="verdana" panose="020B0604030504040204" pitchFamily="34" charset="0"/>
                        </a:rPr>
                        <a:t>C++ is an object-oriented language. However, in C language, single root hierarchy is not possible.</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000" dirty="0">
                          <a:solidFill>
                            <a:srgbClr val="000000"/>
                          </a:solidFill>
                          <a:effectLst/>
                          <a:latin typeface="verdana" panose="020B0604030504040204" pitchFamily="34" charset="0"/>
                        </a:rPr>
                        <a:t>Java is also an </a:t>
                      </a:r>
                      <a:r>
                        <a:rPr lang="en-US" sz="1000" u="none" strike="noStrike" dirty="0">
                          <a:solidFill>
                            <a:srgbClr val="008000"/>
                          </a:solidFill>
                          <a:effectLst/>
                          <a:latin typeface="verdana" panose="020B0604030504040204" pitchFamily="34" charset="0"/>
                        </a:rPr>
                        <a:t>object-oriented</a:t>
                      </a:r>
                      <a:r>
                        <a:rPr lang="en-US" sz="1000" dirty="0">
                          <a:solidFill>
                            <a:srgbClr val="000000"/>
                          </a:solidFill>
                          <a:effectLst/>
                          <a:latin typeface="verdana" panose="020B0604030504040204" pitchFamily="34" charset="0"/>
                        </a:rPr>
                        <a:t> language. However, everything (except fundamental types) is an object in Java. It is a single root hierarchy as everything gets derived from </a:t>
                      </a:r>
                      <a:r>
                        <a:rPr lang="en-US" sz="1000" dirty="0" err="1">
                          <a:solidFill>
                            <a:srgbClr val="000000"/>
                          </a:solidFill>
                          <a:effectLst/>
                          <a:latin typeface="verdana" panose="020B0604030504040204" pitchFamily="34" charset="0"/>
                        </a:rPr>
                        <a:t>java.lang.Object</a:t>
                      </a:r>
                      <a:r>
                        <a:rPr lang="en-US" sz="1000" dirty="0">
                          <a:solidFill>
                            <a:srgbClr val="000000"/>
                          </a:solidFill>
                          <a:effectLst/>
                          <a:latin typeface="verdana" panose="020B0604030504040204" pitchFamily="34" charset="0"/>
                        </a:rPr>
                        <a:t>.</a:t>
                      </a:r>
                    </a:p>
                  </a:txBody>
                  <a:tcPr marL="10559" marR="10559" marT="10559" marB="1055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61719245"/>
                  </a:ext>
                </a:extLst>
              </a:tr>
            </a:tbl>
          </a:graphicData>
        </a:graphic>
      </p:graphicFrame>
    </p:spTree>
    <p:extLst>
      <p:ext uri="{BB962C8B-B14F-4D97-AF65-F5344CB8AC3E}">
        <p14:creationId xmlns:p14="http://schemas.microsoft.com/office/powerpoint/2010/main" val="18308183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RightStep">
      <a:dk1>
        <a:srgbClr val="000000"/>
      </a:dk1>
      <a:lt1>
        <a:srgbClr val="FFFFFF"/>
      </a:lt1>
      <a:dk2>
        <a:srgbClr val="412F24"/>
      </a:dk2>
      <a:lt2>
        <a:srgbClr val="E2E8E8"/>
      </a:lt2>
      <a:accent1>
        <a:srgbClr val="E72931"/>
      </a:accent1>
      <a:accent2>
        <a:srgbClr val="D55E17"/>
      </a:accent2>
      <a:accent3>
        <a:srgbClr val="C1A022"/>
      </a:accent3>
      <a:accent4>
        <a:srgbClr val="8FB013"/>
      </a:accent4>
      <a:accent5>
        <a:srgbClr val="59B721"/>
      </a:accent5>
      <a:accent6>
        <a:srgbClr val="15BE1C"/>
      </a:accent6>
      <a:hlink>
        <a:srgbClr val="30918D"/>
      </a:hlink>
      <a:folHlink>
        <a:srgbClr val="7F7F7F"/>
      </a:folHlink>
    </a:clrScheme>
    <a:fontScheme name="Savon">
      <a:majorFont>
        <a:latin typeface="Edwardian Script ITC"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emb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42</TotalTime>
  <Words>862</Words>
  <Application>Microsoft Office PowerPoint</Application>
  <PresentationFormat>Widescreen</PresentationFormat>
  <Paragraphs>102</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Bembo</vt:lpstr>
      <vt:lpstr>Edwardian Script ITC</vt:lpstr>
      <vt:lpstr>erdana</vt:lpstr>
      <vt:lpstr>Garamond</vt:lpstr>
      <vt:lpstr>times new roman</vt:lpstr>
      <vt:lpstr>verdana</vt:lpstr>
      <vt:lpstr>SavonVTI</vt:lpstr>
      <vt:lpstr>Core Java</vt:lpstr>
      <vt:lpstr>What is Java</vt:lpstr>
      <vt:lpstr>History of Java</vt:lpstr>
      <vt:lpstr>Java Platforms / Editions</vt:lpstr>
      <vt:lpstr>Application by JAVA</vt:lpstr>
      <vt:lpstr>Types of Java Applications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Java</dc:title>
  <dc:creator>KAMAL NAIN</dc:creator>
  <cp:lastModifiedBy>KAMAL NAIN</cp:lastModifiedBy>
  <cp:revision>5</cp:revision>
  <dcterms:created xsi:type="dcterms:W3CDTF">2020-08-06T09:50:08Z</dcterms:created>
  <dcterms:modified xsi:type="dcterms:W3CDTF">2020-08-06T10:34:16Z</dcterms:modified>
</cp:coreProperties>
</file>