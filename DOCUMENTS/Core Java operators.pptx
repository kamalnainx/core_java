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35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55CE8-C700-43BE-B832-70BAE37DF4B4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F085F-9FED-4D59-81A8-B5A49D94E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6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63AD6C5-CD07-4876-9062-9BA95C11CA2D}" type="datetime1">
              <a:rPr lang="en-US" smtClean="0"/>
              <a:t>8/17/2020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THEKAMALNAIN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62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F4AB-E392-4A5E-8B61-8152EB70B4DC}" type="datetime1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1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7C78551-80C9-4329-A23E-FE6E78FEE0D0}" type="datetime1">
              <a:rPr lang="en-US" smtClean="0"/>
              <a:t>8/17/2020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THEKAMALNAIN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73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14045-8C42-449D-A0FA-30BFFA6DE896}" type="datetime1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9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379-8010-4639-8131-C35C7A370C89}" type="datetime1">
              <a:rPr lang="en-US" smtClean="0"/>
              <a:t>8/17/2020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4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E788A-4818-46DD-AA4F-94F58E5F6E75}" type="datetime1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7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AD16-5A41-4C7D-813F-3A494BA17E93}" type="datetime1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0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B4664283-3ED5-48D6-9FAF-282CCAA00D7F}" type="datetime1">
              <a:rPr lang="en-US" smtClean="0"/>
              <a:t>8/17/2020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THEKAMALNAIN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FEFED08C-37E3-440F-BE79-EAEDBE39BD16}" type="datetime1">
              <a:rPr lang="en-US" smtClean="0"/>
              <a:t>8/17/2020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en-US"/>
              <a:t>THEKAMALNAIN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58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5FB-F53A-4512-B906-CFDD8B637931}" type="datetime1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3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FEBE2-64EC-4C69-A353-980DFD024751}" type="datetime1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8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1C3094A-3672-468C-8F19-84AD4A6E22BE}" type="datetime1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THEKAMALNAIN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9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7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6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CD016D-A910-4F01-B805-6967A42DF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308" b="29442"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6221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0846F-3F1A-44C0-89BC-2CEB1E8F5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62210" cy="6858000"/>
          </a:xfrm>
          <a:prstGeom prst="rect">
            <a:avLst/>
          </a:prstGeom>
          <a:solidFill>
            <a:srgbClr val="E72931">
              <a:alpha val="40000"/>
            </a:srgb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977" y="164592"/>
            <a:ext cx="4334256" cy="652881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9EE39-8EE3-4972-BA1A-434678E9B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24" y="1340361"/>
            <a:ext cx="3729162" cy="3341700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Core Java</a:t>
            </a:r>
            <a:br>
              <a:rPr lang="en-US" sz="8000" dirty="0">
                <a:solidFill>
                  <a:schemeClr val="tx1"/>
                </a:solidFill>
              </a:rPr>
            </a:br>
            <a:r>
              <a:rPr lang="en-US" sz="8000" dirty="0">
                <a:solidFill>
                  <a:schemeClr val="tx1"/>
                </a:solidFill>
              </a:rPr>
              <a:t>Operators</a:t>
            </a:r>
            <a:br>
              <a:rPr lang="en-US" sz="8000" dirty="0">
                <a:solidFill>
                  <a:schemeClr val="tx1"/>
                </a:solidFill>
              </a:rPr>
            </a:br>
            <a:endParaRPr lang="en-US" sz="8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A5910-BB53-4812-801B-C811876F1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284" y="4731476"/>
            <a:ext cx="3793642" cy="97090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#THEKAMALNAIN</a:t>
            </a:r>
          </a:p>
          <a:p>
            <a:r>
              <a:rPr lang="en-US" dirty="0">
                <a:solidFill>
                  <a:schemeClr val="tx1"/>
                </a:solidFill>
              </a:rPr>
              <a:t>@THEKAMALNAIN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32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524-19B6-4345-989A-084297A7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What is Operators in Core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06703-573B-4E06-A338-CA0BB7B92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Operator is a type of symbol which is used for perform operations in various condition.</a:t>
            </a:r>
          </a:p>
          <a:p>
            <a:pPr marL="0" indent="0">
              <a:buNone/>
            </a:pPr>
            <a:r>
              <a:rPr lang="en-US" sz="2800" dirty="0"/>
              <a:t>	Like Example: +, -, *, and so more.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A1B37-F87E-4A28-931C-3DAB2DC1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385965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3DFA-0E00-4756-8257-E01909C0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Types of Operators in Core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F4EE-A3FB-47E7-830B-032087725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Arithmetic Operator</a:t>
            </a:r>
          </a:p>
          <a:p>
            <a:r>
              <a:rPr lang="en-US" dirty="0"/>
              <a:t>Assignment Operator</a:t>
            </a:r>
          </a:p>
          <a:p>
            <a:r>
              <a:rPr lang="en-US" dirty="0"/>
              <a:t>Bitwise Operator</a:t>
            </a:r>
          </a:p>
          <a:p>
            <a:r>
              <a:rPr lang="en-US" dirty="0"/>
              <a:t>Logical Operator</a:t>
            </a:r>
          </a:p>
          <a:p>
            <a:r>
              <a:rPr lang="en-US" dirty="0"/>
              <a:t>Relational Operator</a:t>
            </a:r>
          </a:p>
          <a:p>
            <a:r>
              <a:rPr lang="en-US" dirty="0"/>
              <a:t>Shift Operator</a:t>
            </a:r>
          </a:p>
          <a:p>
            <a:r>
              <a:rPr lang="en-US" dirty="0"/>
              <a:t>Ternary Operator</a:t>
            </a:r>
          </a:p>
          <a:p>
            <a:r>
              <a:rPr lang="en-US" dirty="0"/>
              <a:t>Unary Operator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04072-5020-45C1-94FB-02CC2D2D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102025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4EFE-A60C-4B2A-80A3-364DE15C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Arithmetic Operator,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D8956-1598-4C8D-9278-41176E398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use for perform simple arithmetic operations on primitive data types.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C29E4D-59C1-4F04-8973-52932CEC5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84839"/>
              </p:ext>
            </p:extLst>
          </p:nvPr>
        </p:nvGraphicFramePr>
        <p:xfrm>
          <a:off x="1066800" y="2643862"/>
          <a:ext cx="9061028" cy="3672128"/>
        </p:xfrm>
        <a:graphic>
          <a:graphicData uri="http://schemas.openxmlformats.org/drawingml/2006/table">
            <a:tbl>
              <a:tblPr/>
              <a:tblGrid>
                <a:gridCol w="1514876">
                  <a:extLst>
                    <a:ext uri="{9D8B030D-6E8A-4147-A177-3AD203B41FA5}">
                      <a16:colId xmlns:a16="http://schemas.microsoft.com/office/drawing/2014/main" val="3355819312"/>
                    </a:ext>
                  </a:extLst>
                </a:gridCol>
                <a:gridCol w="1815969">
                  <a:extLst>
                    <a:ext uri="{9D8B030D-6E8A-4147-A177-3AD203B41FA5}">
                      <a16:colId xmlns:a16="http://schemas.microsoft.com/office/drawing/2014/main" val="1410981687"/>
                    </a:ext>
                  </a:extLst>
                </a:gridCol>
                <a:gridCol w="4027124">
                  <a:extLst>
                    <a:ext uri="{9D8B030D-6E8A-4147-A177-3AD203B41FA5}">
                      <a16:colId xmlns:a16="http://schemas.microsoft.com/office/drawing/2014/main" val="3324072981"/>
                    </a:ext>
                  </a:extLst>
                </a:gridCol>
                <a:gridCol w="1703059">
                  <a:extLst>
                    <a:ext uri="{9D8B030D-6E8A-4147-A177-3AD203B41FA5}">
                      <a16:colId xmlns:a16="http://schemas.microsoft.com/office/drawing/2014/main" val="233824613"/>
                    </a:ext>
                  </a:extLst>
                </a:gridCol>
              </a:tblGrid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Operator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Name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Description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Example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717576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+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Addition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Adds together two values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+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686443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-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Subtraction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Subtracts one value from second value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-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70326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*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Multiplication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Multiplies two numbers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*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077121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/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Division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Divides one value by second value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/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625727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%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Modulus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division remainder(LCM remaining )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%y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608723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++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Increment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Increases value by 1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x++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933288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--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Decrement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Decreases value by 1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y--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4233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F362F-D570-4ED6-85EE-9C90A72D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104650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BCD01-5CB4-4216-82CA-9A0DB215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0220"/>
            <a:ext cx="10058400" cy="1371600"/>
          </a:xfrm>
        </p:spPr>
        <p:txBody>
          <a:bodyPr>
            <a:normAutofit/>
          </a:bodyPr>
          <a:lstStyle/>
          <a:p>
            <a:r>
              <a:rPr lang="en-US" dirty="0"/>
              <a:t>Assignment Operator.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6B4C-68E2-47D8-8674-F219C7ED8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82777"/>
            <a:ext cx="10058400" cy="3849624"/>
          </a:xfrm>
        </p:spPr>
        <p:txBody>
          <a:bodyPr/>
          <a:lstStyle/>
          <a:p>
            <a:r>
              <a:rPr lang="en-US" dirty="0"/>
              <a:t>It’s used to assign the value on its right to the operand on its left.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288723-A459-418B-8DC7-00719C445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590292"/>
              </p:ext>
            </p:extLst>
          </p:nvPr>
        </p:nvGraphicFramePr>
        <p:xfrm>
          <a:off x="1066798" y="2574167"/>
          <a:ext cx="9575496" cy="3888940"/>
        </p:xfrm>
        <a:graphic>
          <a:graphicData uri="http://schemas.openxmlformats.org/drawingml/2006/table">
            <a:tbl>
              <a:tblPr/>
              <a:tblGrid>
                <a:gridCol w="2393874">
                  <a:extLst>
                    <a:ext uri="{9D8B030D-6E8A-4147-A177-3AD203B41FA5}">
                      <a16:colId xmlns:a16="http://schemas.microsoft.com/office/drawing/2014/main" val="3272273023"/>
                    </a:ext>
                  </a:extLst>
                </a:gridCol>
                <a:gridCol w="2393874">
                  <a:extLst>
                    <a:ext uri="{9D8B030D-6E8A-4147-A177-3AD203B41FA5}">
                      <a16:colId xmlns:a16="http://schemas.microsoft.com/office/drawing/2014/main" val="3666799300"/>
                    </a:ext>
                  </a:extLst>
                </a:gridCol>
                <a:gridCol w="2393874">
                  <a:extLst>
                    <a:ext uri="{9D8B030D-6E8A-4147-A177-3AD203B41FA5}">
                      <a16:colId xmlns:a16="http://schemas.microsoft.com/office/drawing/2014/main" val="3234892257"/>
                    </a:ext>
                  </a:extLst>
                </a:gridCol>
                <a:gridCol w="2393874">
                  <a:extLst>
                    <a:ext uri="{9D8B030D-6E8A-4147-A177-3AD203B41FA5}">
                      <a16:colId xmlns:a16="http://schemas.microsoft.com/office/drawing/2014/main" val="2101537021"/>
                    </a:ext>
                  </a:extLst>
                </a:gridCol>
              </a:tblGrid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Operator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Name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Example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Same As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681956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equal</a:t>
                      </a:r>
                      <a:endParaRPr lang="en-US" sz="1800" dirty="0">
                        <a:effectLst/>
                      </a:endParaRP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5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5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020485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+=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adding equal</a:t>
                      </a:r>
                      <a:endParaRPr lang="en-US" sz="1800" dirty="0">
                        <a:effectLst/>
                      </a:endParaRP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+=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+ 3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944391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-=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subtracting equal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-=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- 3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709212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*=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multiplying equal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*=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*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552922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/=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Dividing equal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/=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/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667673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%=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Modulo equal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%=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%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969126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&amp;=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And equal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&amp;=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&amp;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137330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|=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Or equal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|=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|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024172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^=</a:t>
                      </a:r>
                    </a:p>
                  </a:txBody>
                  <a:tcPr marL="114574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Power equal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^=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= x ^ 3</a:t>
                      </a:r>
                    </a:p>
                  </a:txBody>
                  <a:tcPr marL="57287" marR="57287" marT="57287" marB="572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64305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6F32D-B803-4F1E-887A-528D892C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395945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3CA71-C3D4-4FB9-A32D-A8B2B0FE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FCE57-FCB5-40CF-AB40-E1BE0DE16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use to perform manipulation of individual bits of a number.</a:t>
            </a:r>
          </a:p>
          <a:p>
            <a:r>
              <a:rPr lang="en-US" dirty="0"/>
              <a:t>&amp;	:	 Bitwise AND</a:t>
            </a:r>
          </a:p>
          <a:p>
            <a:r>
              <a:rPr lang="en-US" dirty="0"/>
              <a:t>|	:	 Bitwise OR operator:</a:t>
            </a:r>
          </a:p>
          <a:p>
            <a:r>
              <a:rPr lang="en-US" dirty="0"/>
              <a:t>^	:	 Bitwise XOR operator:</a:t>
            </a:r>
          </a:p>
          <a:p>
            <a:r>
              <a:rPr lang="en-US" dirty="0"/>
              <a:t>~	:	 Bitwise Complement Operator: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598BA-428D-41C6-AA2A-0BCBE888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1947663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B0DA-3815-4906-999E-03CF08D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5F664-ED27-4906-9364-297CA121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used to perform “logical AND” and “logical OR” operation</a:t>
            </a:r>
          </a:p>
          <a:p>
            <a:r>
              <a:rPr lang="en-US" dirty="0"/>
              <a:t>&amp;&amp;	:	AND </a:t>
            </a:r>
          </a:p>
          <a:p>
            <a:r>
              <a:rPr lang="en-US" dirty="0"/>
              <a:t>||	:	OR</a:t>
            </a:r>
          </a:p>
          <a:p>
            <a:r>
              <a:rPr lang="en-US" dirty="0"/>
              <a:t>!	:	NOT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11164-B154-4EFE-8BA6-8015F37B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372554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918E-AD59-40A1-AC26-204D1B87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Comparison/Relational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4A882-160D-4C4F-97A7-7C583FCFF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56510"/>
            <a:ext cx="10058400" cy="3849624"/>
          </a:xfrm>
        </p:spPr>
        <p:txBody>
          <a:bodyPr/>
          <a:lstStyle/>
          <a:p>
            <a:r>
              <a:rPr lang="en-US" dirty="0"/>
              <a:t>It’s use to check for relations like equality, greater than, less than and return Boolean result.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E4E511-200A-430E-ACEE-6D2D6136D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230665"/>
              </p:ext>
            </p:extLst>
          </p:nvPr>
        </p:nvGraphicFramePr>
        <p:xfrm>
          <a:off x="1276123" y="3125634"/>
          <a:ext cx="9061029" cy="2973082"/>
        </p:xfrm>
        <a:graphic>
          <a:graphicData uri="http://schemas.openxmlformats.org/drawingml/2006/table">
            <a:tbl>
              <a:tblPr/>
              <a:tblGrid>
                <a:gridCol w="2521657">
                  <a:extLst>
                    <a:ext uri="{9D8B030D-6E8A-4147-A177-3AD203B41FA5}">
                      <a16:colId xmlns:a16="http://schemas.microsoft.com/office/drawing/2014/main" val="138708499"/>
                    </a:ext>
                  </a:extLst>
                </a:gridCol>
                <a:gridCol w="3528438">
                  <a:extLst>
                    <a:ext uri="{9D8B030D-6E8A-4147-A177-3AD203B41FA5}">
                      <a16:colId xmlns:a16="http://schemas.microsoft.com/office/drawing/2014/main" val="2376810011"/>
                    </a:ext>
                  </a:extLst>
                </a:gridCol>
                <a:gridCol w="3010934">
                  <a:extLst>
                    <a:ext uri="{9D8B030D-6E8A-4147-A177-3AD203B41FA5}">
                      <a16:colId xmlns:a16="http://schemas.microsoft.com/office/drawing/2014/main" val="94293659"/>
                    </a:ext>
                  </a:extLst>
                </a:gridCol>
              </a:tblGrid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Operator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Name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Example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190228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==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Equal to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==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507534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!=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Not equal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!=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967902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&gt;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Greater than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&gt;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93720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&lt;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Less than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&lt;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161231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&gt;=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Greater than or equal to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&gt;=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947984"/>
                  </a:ext>
                </a:extLst>
              </a:tr>
              <a:tr h="42113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&lt;=</a:t>
                      </a:r>
                    </a:p>
                  </a:txBody>
                  <a:tcPr marL="150406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Less than or equal to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&lt;= y</a:t>
                      </a:r>
                    </a:p>
                  </a:txBody>
                  <a:tcPr marL="75203" marR="75203" marT="75203" marB="7520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018754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4531D-94F2-4F5F-82FA-08EDA515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179031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B7BD-2F96-4463-9067-FAB58CB4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Bitwise/Shift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4BD28-D89C-4DB7-9674-D6132D771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used to shift the bits of a number left or right and multiplying or dividing the number by two respectively.</a:t>
            </a:r>
          </a:p>
          <a:p>
            <a:r>
              <a:rPr lang="en-US" dirty="0"/>
              <a:t>&lt;&lt;	:	 Left shift operator</a:t>
            </a:r>
          </a:p>
          <a:p>
            <a:r>
              <a:rPr lang="en-US" dirty="0"/>
              <a:t>&gt;&gt;	:	 Signed Right shift operator</a:t>
            </a:r>
          </a:p>
          <a:p>
            <a:r>
              <a:rPr lang="en-US" dirty="0"/>
              <a:t>&gt;&gt;&gt;	:	 Unsigned Right shift operator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266FD-1C3B-43B8-B824-1ED0035E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355892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13A1-A16D-4954-B70B-D20D0106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Ternary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32055-9653-4BAE-90DB-732ADAD99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shorthand version of if-else statement. </a:t>
            </a:r>
          </a:p>
          <a:p>
            <a:pPr marL="0" indent="0">
              <a:buNone/>
            </a:pPr>
            <a:r>
              <a:rPr lang="en-US" dirty="0"/>
              <a:t>It has three operands and hence the name ternary.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 –</a:t>
            </a:r>
          </a:p>
          <a:p>
            <a:pPr marL="0" indent="0">
              <a:buNone/>
            </a:pPr>
            <a:r>
              <a:rPr lang="en-US" dirty="0"/>
              <a:t>condition ? if true then print : if false then print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1447A-1D2F-4589-8804-F2F39B68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829432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9C2C-92AE-49E3-A427-32A03314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Operator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AF011-5855-40F3-8212-D2C922539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use for increment, decrement or negate a value.</a:t>
            </a:r>
          </a:p>
          <a:p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4DFD50-FD0C-4AA3-8CBE-8156C7AFB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659782"/>
              </p:ext>
            </p:extLst>
          </p:nvPr>
        </p:nvGraphicFramePr>
        <p:xfrm>
          <a:off x="1251026" y="2576015"/>
          <a:ext cx="9689947" cy="3606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050">
                  <a:extLst>
                    <a:ext uri="{9D8B030D-6E8A-4147-A177-3AD203B41FA5}">
                      <a16:colId xmlns:a16="http://schemas.microsoft.com/office/drawing/2014/main" val="1775319172"/>
                    </a:ext>
                  </a:extLst>
                </a:gridCol>
                <a:gridCol w="3106758">
                  <a:extLst>
                    <a:ext uri="{9D8B030D-6E8A-4147-A177-3AD203B41FA5}">
                      <a16:colId xmlns:a16="http://schemas.microsoft.com/office/drawing/2014/main" val="245498663"/>
                    </a:ext>
                  </a:extLst>
                </a:gridCol>
                <a:gridCol w="4010139">
                  <a:extLst>
                    <a:ext uri="{9D8B030D-6E8A-4147-A177-3AD203B41FA5}">
                      <a16:colId xmlns:a16="http://schemas.microsoft.com/office/drawing/2014/main" val="237967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71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Plus Unary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Used for positive values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33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Minus Unary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Used for negative values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31703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Increment operator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36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X++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Post-Increment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Increases value by 1 after</a:t>
                      </a:r>
                    </a:p>
                  </a:txBody>
                  <a:tcPr marL="75203" marR="75203" marT="75203" marB="75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6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++X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Pre-Increment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Before increment value by 1</a:t>
                      </a:r>
                    </a:p>
                  </a:txBody>
                  <a:tcPr marL="75203" marR="75203" marT="75203" marB="75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73807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Decrement operator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dirty="0">
                        <a:effectLst/>
                      </a:endParaRPr>
                    </a:p>
                  </a:txBody>
                  <a:tcPr marL="75203" marR="75203" marT="75203" marB="75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526474"/>
                  </a:ext>
                </a:extLst>
              </a:tr>
              <a:tr h="21236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X--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</a:rPr>
                        <a:t>Post-Decrement</a:t>
                      </a:r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Decreases value by 1 after</a:t>
                      </a:r>
                    </a:p>
                  </a:txBody>
                  <a:tcPr marL="75203" marR="75203" marT="75203" marB="75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61087"/>
                  </a:ext>
                </a:extLst>
              </a:tr>
              <a:tr h="21236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--X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Pre-Decrement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Before Decreases value by 1</a:t>
                      </a:r>
                    </a:p>
                  </a:txBody>
                  <a:tcPr marL="75203" marR="75203" marT="75203" marB="75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18789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D53BE-560D-45AC-BAAE-6AFD03B5E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THEKAMALNAIN</a:t>
            </a:r>
          </a:p>
        </p:txBody>
      </p:sp>
    </p:spTree>
    <p:extLst>
      <p:ext uri="{BB962C8B-B14F-4D97-AF65-F5344CB8AC3E}">
        <p14:creationId xmlns:p14="http://schemas.microsoft.com/office/powerpoint/2010/main" val="1220191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RegularSeedRightStep">
      <a:dk1>
        <a:srgbClr val="000000"/>
      </a:dk1>
      <a:lt1>
        <a:srgbClr val="FFFFFF"/>
      </a:lt1>
      <a:dk2>
        <a:srgbClr val="412F24"/>
      </a:dk2>
      <a:lt2>
        <a:srgbClr val="E2E8E8"/>
      </a:lt2>
      <a:accent1>
        <a:srgbClr val="E72931"/>
      </a:accent1>
      <a:accent2>
        <a:srgbClr val="D55E17"/>
      </a:accent2>
      <a:accent3>
        <a:srgbClr val="C1A022"/>
      </a:accent3>
      <a:accent4>
        <a:srgbClr val="8FB013"/>
      </a:accent4>
      <a:accent5>
        <a:srgbClr val="59B721"/>
      </a:accent5>
      <a:accent6>
        <a:srgbClr val="15BE1C"/>
      </a:accent6>
      <a:hlink>
        <a:srgbClr val="30918D"/>
      </a:hlink>
      <a:folHlink>
        <a:srgbClr val="7F7F7F"/>
      </a:folHlink>
    </a:clrScheme>
    <a:fontScheme name="Savon">
      <a:majorFont>
        <a:latin typeface="Edwardian Script ITC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emb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581</Words>
  <Application>Microsoft Office PowerPoint</Application>
  <PresentationFormat>Widescreen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Bembo</vt:lpstr>
      <vt:lpstr>Calibri</vt:lpstr>
      <vt:lpstr>Edwardian Script ITC</vt:lpstr>
      <vt:lpstr>Garamond</vt:lpstr>
      <vt:lpstr>SavonVTI</vt:lpstr>
      <vt:lpstr>Core Java Operators </vt:lpstr>
      <vt:lpstr>What is Operators in Core Java</vt:lpstr>
      <vt:lpstr>Types of Operators in Core Java </vt:lpstr>
      <vt:lpstr>Arithmetic Operator,</vt:lpstr>
      <vt:lpstr>Assignment Operator.</vt:lpstr>
      <vt:lpstr>Bitwise Operator</vt:lpstr>
      <vt:lpstr>Logical Operator</vt:lpstr>
      <vt:lpstr>Comparison/Relational Operator</vt:lpstr>
      <vt:lpstr>Bitwise/Shift Operator</vt:lpstr>
      <vt:lpstr>Ternary Operator</vt:lpstr>
      <vt:lpstr>Unary Operator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</dc:title>
  <dc:creator>KAMAL NAIN</dc:creator>
  <cp:lastModifiedBy>KAMAL NAIN</cp:lastModifiedBy>
  <cp:revision>28</cp:revision>
  <dcterms:created xsi:type="dcterms:W3CDTF">2020-08-06T09:50:08Z</dcterms:created>
  <dcterms:modified xsi:type="dcterms:W3CDTF">2020-08-17T09:51:08Z</dcterms:modified>
</cp:coreProperties>
</file>